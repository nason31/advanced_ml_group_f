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3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5_0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78" r:id="rId7"/>
    <p:sldId id="259" r:id="rId8"/>
    <p:sldId id="277" r:id="rId9"/>
    <p:sldId id="271" r:id="rId10"/>
    <p:sldId id="269" r:id="rId11"/>
    <p:sldId id="261" r:id="rId12"/>
    <p:sldId id="276" r:id="rId13"/>
    <p:sldId id="264" r:id="rId14"/>
    <p:sldId id="265" r:id="rId15"/>
    <p:sldId id="266" r:id="rId16"/>
    <p:sldId id="267" r:id="rId17"/>
    <p:sldId id="268" r:id="rId18"/>
    <p:sldId id="270" r:id="rId19"/>
    <p:sldId id="272" r:id="rId20"/>
    <p:sldId id="273" r:id="rId21"/>
    <p:sldId id="274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E1909E-D889-03A5-48C3-356900822D56}" name="Alexander Kaisergruber" initials="AK" userId="S::70299@novasbe.pt::4d12b917-2634-408b-8874-99ce73087f6c" providerId="AD"/>
  <p188:author id="{55837DAB-41E7-520C-B977-08B0765B44DA}" name="Marie Christine Henke" initials="MH" userId="9967412f3214ce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1FF"/>
    <a:srgbClr val="BA8800"/>
    <a:srgbClr val="F7F7F7"/>
    <a:srgbClr val="EBEBEB"/>
    <a:srgbClr val="1A73E8"/>
    <a:srgbClr val="0D1F3C"/>
    <a:srgbClr val="1E9367"/>
    <a:srgbClr val="BA2E1E"/>
    <a:srgbClr val="24966B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0AFB3-04E1-1348-8CE4-8CA1E7D89177}" v="72" dt="2026-05-11T13:00:28.440"/>
    <p1510:client id="{0D28D0F9-7C80-4899-A126-130FA09811CA}" v="598" dt="2026-05-11T12:55:25.825"/>
    <p1510:client id="{D2A4E547-E3E6-4A80-E9AB-481F9523E112}" v="24" dt="2026-05-10T17:36:55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3"/>
    <p:restoredTop sz="94678"/>
  </p:normalViewPr>
  <p:slideViewPr>
    <p:cSldViewPr snapToGrid="0">
      <p:cViewPr varScale="1">
        <p:scale>
          <a:sx n="64" d="100"/>
          <a:sy n="64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1AE307-7083-4AC7-AA75-6031ED9CFCB2}" authorId="{7DE1909E-D889-03A5-48C3-356900822D56}" created="2026-05-06T15:52:43.247">
    <pc:sldMkLst xmlns:pc="http://schemas.microsoft.com/office/powerpoint/2013/main/command">
      <pc:docMk/>
      <pc:sldMk cId="0" sldId="259"/>
    </pc:sldMkLst>
    <p188:txBody>
      <a:bodyPr/>
      <a:lstStyle/>
      <a:p>
        <a:r>
          <a:rPr lang="de-AT"/>
          <a:t>Light GBM: Dieses Model (der Protype) wurde mit Kaggel DS trainiert (WALMART daten) -&gt; Die Historic Daten vom Store werden dann benutzt um das Model zu trainieren und die ersten zahlen zu bekommen (+49% -&gt; rein mathematisch/prediction based solely on numbers) -&gt; output an 
RAG: -&gt; specific und kontrollierter Kontext (kontrollierte LLM-&gt; nur daraus infos holen) um zahlen auch richtig zu interepretieren und zu re-weighten based on extra context -&gt; 
Claude: Der Output wird dann für Claude verwendet um die Texte/outputs zu schreiben 
(Im claude wird schon gesagt das man keine Externen Zahlen verwenden Darf, nur als translator für manager)-&gt;
Hallucination guard: Claude hallociniert trotzdem manhcmal und hier werden nochmal gecheckt mit regeln das er nicht halluciniert (zb zahlen bleiben gleich)-&gt; an streamlit weitergegebn an das dashoard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2989CF-5C3C-4A90-B746-FCB05994DE3A}" authorId="{7DE1909E-D889-03A5-48C3-356900822D56}" created="2026-05-06T15:39:09.875">
    <pc:sldMkLst xmlns:pc="http://schemas.microsoft.com/office/powerpoint/2013/main/command">
      <pc:docMk/>
      <pc:sldMk cId="0" sldId="261"/>
    </pc:sldMkLst>
    <p188:txBody>
      <a:bodyPr/>
      <a:lstStyle/>
      <a:p>
        <a:r>
          <a:rPr lang="de-AT"/>
          <a:t>Sweet spot für mid sized comanies 
Beispiel geben was Walmart macht von denen 
Generelle Kunden beispiele als Logos 
Generic BI -&gt; Power BI und Tableau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42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morning. We're MerchAI. The single line we want you to remember is on this slide — we're building the AI merchandiser every Walmart already has, but the 500-store chain still can't afford. Over the next ten minutes we'll show you a working prototype, the math behind a 92% gross margin business, and what we want from you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Here's the problem. Mid-market retailers — fifty to five hundred stores, a hundred million to two billion in revenue — are too big to run on intuition and too small to staff a data science team. Every day they leak margin in three places: late markdowns, replenishment latency, and promo blind spots. The data sits in the POS. Nobody acts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solution is a daily AI briefing. Not a dashboard. The store manager opens their laptop and sees colour-coded cards: mark this down, restock that, promote this one. Every card has a confidence badge, a citation, and a one-click accept or reject. We deliver decisions, not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Under the hood, five layers. A LightGBM forecast produces the numbers. RAG retrieval pulls relevant historical context. Claude reasons over it and writes the recommendation. A two-layer hallucination guard verifies the output. Then the dashboard delivers it. Crucially — the LLM translates, it does not invent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6BD9-FE24-9A46-6A92-7DC45C8C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81B4F-30F8-98A7-B4DB-727B1A44B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775C1-D157-E961-2C71-85712E87A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not a slide deck demo. We have a working prototype running on the M5 Walmart dataset across three stores. WRMSSE 0.74 on a 28-day holdout. 57 RAG context documents. 54-phrase hallucination guard. Three recommendation types, full audit trail. We'd love to walk you through it after the pitch.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D5D82-3905-52FC-00FF-1B9F7C58A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70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four — full financial model. Three scenarios, full operating cost stack, complete LTV-CAC table. The headline: 92% gross margin holds across pilot, growth, and scale phases. Operating costs are dominated by team salaries, not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1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two — the system prompt we ship in production. Three deliberate design decisions. Role anchoring locks Claude into a retail merchandiser persona. Strict data rules force verbatim citation of forecast numbers. One-recommendation-per-call output keeps the format machine-parseable.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22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market. There are roughly two thousand European retail chains in our target band. At 150 stores average and 300 euros per store per month, that's a 1.1 billion euro ARR opportunity in Europe alone. We sit between Relex at the top — too expensive, twelve-month implementations — and generic BI dashboards at the bottom that don't tell you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 profitability — the first paying chain puts us into the black. Founder-led CAC is 8 thousand euros. Lifetime value is 1.5 million per chain. That's an LTV-to-CAC of 188 to 1 at launch. Even at scale with a real sales team, we stay at 43 to 1. The benchmark is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Competitive landscape. We are not competing with Relex. Relex serves enterprises with thousand-store estates and twelve-month deployments. We serve the mid-market that Relex priced out. Decisions, not dashboards. Days, not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 defensibility — three compounding moats. The decision data flywheel: every accept and reject builds a preference dataset unique to that chain. Workflow embedment: the morning briefing becomes the routine. POS integration depth: our value requires the retailer's transaction data, which OpenAI has no access to and no incentive to integrate.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Go-to-market. Two design partners in six months. Three to five paying chains by month 18. ERP channel partnerships in the scale phase. We're already running founder-led outreach to category managers across the DACH and Benelux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team and our ask. Four builders — two engineers, one business, one operations. We've shipped the prototype. What we want from you today: one mid-size retail chain willing to run a free 90-day pilot on their own POS data. In exchange, a working briefing system and co-development input.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one — the hallucination guard. Two layers. Intent check: 54 retail action phrases, deterministic matching. We chose deterministic over a second LLM call because it's faster, free, and auditable. Numeric check: regex extraction with 2x tolerance. The example shows it catching a fabricated number while passing a correctly cited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three — forecasting performance. LightGBM trained on M5. Three stores, 42 thousand SKUs, 5.8 million rows. WRMSSE 0.74 overall. For context, the M5 leaderboard top 10% sits around 0.50. We have a clear path there with additional lag windows and leaf-count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Appendix five — GenAI transparency, as required by the course brief. We used Claude across four workstreams: ideation, writing, coding, and documentation. Every session is logged in Appendix A of the business plan. Ten sessions, all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F076F98D-C9B1-E8A8-FBC6-DA7CE0C476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512" y="114300"/>
            <a:ext cx="1388308" cy="69415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· CONFIDENTIAL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6993692" y="222250"/>
            <a:ext cx="104768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143000" y="4780558"/>
            <a:ext cx="13735050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kern="0" spc="-43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merchandiser every Walmart has and the 500-store chain wants.</a:t>
            </a:r>
            <a:endParaRPr lang="en-US" sz="2850" b="1"/>
          </a:p>
        </p:txBody>
      </p:sp>
      <p:sp>
        <p:nvSpPr>
          <p:cNvPr id="12" name="Text 10"/>
          <p:cNvSpPr/>
          <p:nvPr/>
        </p:nvSpPr>
        <p:spPr>
          <a:xfrm>
            <a:off x="1143000" y="5622689"/>
            <a:ext cx="1648206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33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 Copilot for Mid-Size Retailers</a:t>
            </a:r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143000" y="7078874"/>
            <a:ext cx="16002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Shape 2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762000" y="9950451"/>
            <a:ext cx="69691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merchai.io</a:t>
            </a:r>
            <a:endParaRPr lang="en-US" sz="975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795FF0-E1F8-85E7-608E-7EA771AB9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41597A3-EFE8-2A86-35F7-7EFB2DA61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29" y="2396710"/>
            <a:ext cx="6077306" cy="3038653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8DB75E1-0917-2C64-5E28-6D8FD3027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399319"/>
              </p:ext>
            </p:extLst>
          </p:nvPr>
        </p:nvGraphicFramePr>
        <p:xfrm>
          <a:off x="1032781" y="7679319"/>
          <a:ext cx="9368519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788">
                  <a:extLst>
                    <a:ext uri="{9D8B030D-6E8A-4147-A177-3AD203B41FA5}">
                      <a16:colId xmlns:a16="http://schemas.microsoft.com/office/drawing/2014/main" val="1602814886"/>
                    </a:ext>
                  </a:extLst>
                </a:gridCol>
                <a:gridCol w="1503207">
                  <a:extLst>
                    <a:ext uri="{9D8B030D-6E8A-4147-A177-3AD203B41FA5}">
                      <a16:colId xmlns:a16="http://schemas.microsoft.com/office/drawing/2014/main" val="2152227758"/>
                    </a:ext>
                  </a:extLst>
                </a:gridCol>
                <a:gridCol w="6366524">
                  <a:extLst>
                    <a:ext uri="{9D8B030D-6E8A-4147-A177-3AD203B41FA5}">
                      <a16:colId xmlns:a16="http://schemas.microsoft.com/office/drawing/2014/main" val="3309852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Track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Owns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5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Leticia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pipeline, LLM layer, recommendations, frontend (shared)</a:t>
                      </a:r>
                      <a:endParaRPr lang="de-AT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7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Justus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Forecasting, RAG, scripts, deployment, frontend (shared)</a:t>
                      </a:r>
                      <a:endParaRPr lang="de-AT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70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Marie 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1"/>
                        <a:t>Business Plan, ROI story, unit economics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30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Alexander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Pitch deck, demo script, GenAI log compilation</a:t>
                      </a:r>
                      <a:endParaRPr lang="en-US" noProof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667492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A859B75-5C3F-C679-8A0A-A1F6A086DA4F}"/>
              </a:ext>
            </a:extLst>
          </p:cNvPr>
          <p:cNvSpPr txBox="1"/>
          <p:nvPr/>
        </p:nvSpPr>
        <p:spPr>
          <a:xfrm>
            <a:off x="12450912" y="8239349"/>
            <a:ext cx="49862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kern="0" spc="-6">
                <a:latin typeface="Arial" pitchFamily="34" charset="0"/>
                <a:ea typeface="Arial" pitchFamily="34" charset="-122"/>
                <a:cs typeface="Arial" pitchFamily="34" charset="-120"/>
              </a:rPr>
              <a:t>2758-T4 Advanced Topics in Machine Learning</a:t>
            </a:r>
            <a:endParaRPr lang="en-US"/>
          </a:p>
          <a:p>
            <a:pPr algn="r"/>
            <a:r>
              <a:rPr lang="de-AT">
                <a:latin typeface="Arial" panose="020B0604020202020204" pitchFamily="34" charset="0"/>
                <a:cs typeface="Arial" panose="020B0604020202020204" pitchFamily="34" charset="0"/>
              </a:rPr>
              <a:t>Nova School </a:t>
            </a:r>
            <a:r>
              <a:rPr lang="de-AT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AT">
                <a:latin typeface="Arial" panose="020B0604020202020204" pitchFamily="34" charset="0"/>
                <a:cs typeface="Arial" panose="020B0604020202020204" pitchFamily="34" charset="0"/>
              </a:rPr>
              <a:t> Business and Economics</a:t>
            </a:r>
          </a:p>
          <a:p>
            <a:pPr algn="r"/>
            <a:r>
              <a:rPr lang="de-AT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de-AT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dd.mm.yyyy</a:t>
            </a:r>
            <a:r>
              <a:rPr lang="de-AT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9A2A194-2932-C048-56A4-078DDE5F593F}"/>
              </a:ext>
            </a:extLst>
          </p:cNvPr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67002" y="222250"/>
            <a:ext cx="76092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retailers bleed margin every day because their data sits unused.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failure modes recur in every chain we've spoken to. None are unsolvable - they are translation problems.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4028678"/>
            <a:ext cx="94234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62000" y="3736578"/>
            <a:ext cx="97061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DAILY FAILURE MODES</a:t>
            </a:r>
            <a:endParaRPr lang="en-US" sz="14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A9505BF-B9AC-3FD9-FEC4-DA90EBB7F94C}"/>
              </a:ext>
            </a:extLst>
          </p:cNvPr>
          <p:cNvGrpSpPr/>
          <p:nvPr/>
        </p:nvGrpSpPr>
        <p:grpSpPr>
          <a:xfrm>
            <a:off x="762000" y="4197668"/>
            <a:ext cx="9682099" cy="893763"/>
            <a:chOff x="762000" y="4498578"/>
            <a:chExt cx="9682099" cy="893763"/>
          </a:xfrm>
        </p:grpSpPr>
        <p:sp>
          <p:nvSpPr>
            <p:cNvPr id="14" name="Text 12"/>
            <p:cNvSpPr/>
            <p:nvPr/>
          </p:nvSpPr>
          <p:spPr>
            <a:xfrm>
              <a:off x="762000" y="4555728"/>
              <a:ext cx="647700" cy="598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126">
                  <a:solidFill>
                    <a:srgbClr val="1A73E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 / LATE</a:t>
              </a:r>
              <a:endParaRPr lang="en-US" sz="1200"/>
            </a:p>
          </p:txBody>
        </p:sp>
        <p:sp>
          <p:nvSpPr>
            <p:cNvPr id="15" name="Text 13"/>
            <p:cNvSpPr/>
            <p:nvPr/>
          </p:nvSpPr>
          <p:spPr>
            <a:xfrm>
              <a:off x="1562100" y="4498578"/>
              <a:ext cx="8881999" cy="336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kern="0" spc="-19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Late markdowns.</a:t>
              </a:r>
              <a:endParaRPr lang="en-US" sz="1950"/>
            </a:p>
          </p:txBody>
        </p:sp>
        <p:sp>
          <p:nvSpPr>
            <p:cNvPr id="16" name="Text 14"/>
            <p:cNvSpPr/>
            <p:nvPr/>
          </p:nvSpPr>
          <p:spPr>
            <a:xfrm>
              <a:off x="1562100" y="4873228"/>
              <a:ext cx="8881999" cy="2809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Inventory held too long at full price, then liquidated under time pressure. Margin gone.</a:t>
              </a:r>
              <a:endParaRPr lang="en-US" sz="1400"/>
            </a:p>
          </p:txBody>
        </p:sp>
        <p:sp>
          <p:nvSpPr>
            <p:cNvPr id="17" name="Shape 15"/>
            <p:cNvSpPr/>
            <p:nvPr/>
          </p:nvSpPr>
          <p:spPr>
            <a:xfrm>
              <a:off x="762000" y="5382816"/>
              <a:ext cx="942340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41D0600-BA84-4205-762B-EC2377E32779}"/>
              </a:ext>
            </a:extLst>
          </p:cNvPr>
          <p:cNvGrpSpPr/>
          <p:nvPr/>
        </p:nvGrpSpPr>
        <p:grpSpPr>
          <a:xfrm>
            <a:off x="762000" y="5356264"/>
            <a:ext cx="9682099" cy="893762"/>
            <a:chOff x="762000" y="5655866"/>
            <a:chExt cx="9682099" cy="893762"/>
          </a:xfrm>
        </p:grpSpPr>
        <p:sp>
          <p:nvSpPr>
            <p:cNvPr id="18" name="Text 16"/>
            <p:cNvSpPr/>
            <p:nvPr/>
          </p:nvSpPr>
          <p:spPr>
            <a:xfrm>
              <a:off x="762000" y="5713016"/>
              <a:ext cx="647700" cy="598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126">
                  <a:solidFill>
                    <a:srgbClr val="1A73E8"/>
                  </a:solidFill>
                  <a:latin typeface="Arial" pitchFamily="34" charset="0"/>
                  <a:cs typeface="Arial" pitchFamily="34" charset="-120"/>
                </a:rPr>
                <a:t>02</a:t>
              </a:r>
              <a:r>
                <a:rPr lang="en-US" sz="1200" b="1" kern="0" spc="126">
                  <a:solidFill>
                    <a:srgbClr val="1A73E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/ SLOW</a:t>
              </a:r>
              <a:endParaRPr lang="en-US" sz="1200"/>
            </a:p>
          </p:txBody>
        </p:sp>
        <p:sp>
          <p:nvSpPr>
            <p:cNvPr id="19" name="Text 17"/>
            <p:cNvSpPr/>
            <p:nvPr/>
          </p:nvSpPr>
          <p:spPr>
            <a:xfrm>
              <a:off x="1562100" y="5655866"/>
              <a:ext cx="8881999" cy="336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kern="0" spc="-19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Replenishment latency.</a:t>
              </a:r>
              <a:endParaRPr lang="en-US" sz="1950"/>
            </a:p>
          </p:txBody>
        </p:sp>
        <p:sp>
          <p:nvSpPr>
            <p:cNvPr id="20" name="Text 18"/>
            <p:cNvSpPr/>
            <p:nvPr/>
          </p:nvSpPr>
          <p:spPr>
            <a:xfrm>
              <a:off x="1562100" y="6030516"/>
              <a:ext cx="8881999" cy="2809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Demand spikes on winning SKUs detected too late. Stockouts during peak sell-through.</a:t>
              </a:r>
              <a:endParaRPr lang="en-US" sz="1400"/>
            </a:p>
          </p:txBody>
        </p:sp>
        <p:sp>
          <p:nvSpPr>
            <p:cNvPr id="22" name="Shape 20"/>
            <p:cNvSpPr/>
            <p:nvPr/>
          </p:nvSpPr>
          <p:spPr>
            <a:xfrm>
              <a:off x="762000" y="6540103"/>
              <a:ext cx="942340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0347264-911D-3CF7-7CB7-89CD6C6FD111}"/>
              </a:ext>
            </a:extLst>
          </p:cNvPr>
          <p:cNvGrpSpPr/>
          <p:nvPr/>
        </p:nvGrpSpPr>
        <p:grpSpPr>
          <a:xfrm>
            <a:off x="786003" y="6514859"/>
            <a:ext cx="9682099" cy="893763"/>
            <a:chOff x="762000" y="6813153"/>
            <a:chExt cx="9682099" cy="893763"/>
          </a:xfrm>
        </p:grpSpPr>
        <p:sp>
          <p:nvSpPr>
            <p:cNvPr id="21" name="Shape 19"/>
            <p:cNvSpPr/>
            <p:nvPr/>
          </p:nvSpPr>
          <p:spPr>
            <a:xfrm>
              <a:off x="762000" y="7697391"/>
              <a:ext cx="9423400" cy="9525"/>
            </a:xfrm>
            <a:prstGeom prst="rect">
              <a:avLst/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Text 21"/>
            <p:cNvSpPr/>
            <p:nvPr/>
          </p:nvSpPr>
          <p:spPr>
            <a:xfrm>
              <a:off x="762000" y="6870303"/>
              <a:ext cx="647700" cy="598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126">
                  <a:solidFill>
                    <a:srgbClr val="1A73E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 / </a:t>
              </a:r>
              <a:r>
                <a:rPr lang="en-US" sz="1200" b="1" kern="0" spc="126">
                  <a:solidFill>
                    <a:srgbClr val="1A73E8"/>
                  </a:solidFill>
                  <a:latin typeface="Arial" pitchFamily="34" charset="0"/>
                  <a:cs typeface="Arial" pitchFamily="34" charset="-120"/>
                </a:rPr>
                <a:t>BLIND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1562100" y="6813153"/>
              <a:ext cx="8881999" cy="336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950" b="1" kern="0" spc="-19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Promo blind spots.</a:t>
              </a:r>
              <a:endParaRPr lang="en-US" sz="1950"/>
            </a:p>
          </p:txBody>
        </p:sp>
        <p:sp>
          <p:nvSpPr>
            <p:cNvPr id="25" name="Text 23"/>
            <p:cNvSpPr/>
            <p:nvPr/>
          </p:nvSpPr>
          <p:spPr>
            <a:xfrm>
              <a:off x="1562100" y="7187803"/>
              <a:ext cx="8881999" cy="2809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Promotional uplift systematically underestimated. Inventory shortfalls on launch.</a:t>
              </a:r>
              <a:endParaRPr lang="en-US" sz="1400"/>
            </a:p>
          </p:txBody>
        </p:sp>
      </p:grpSp>
      <p:sp>
        <p:nvSpPr>
          <p:cNvPr id="26" name="Shape 24"/>
          <p:cNvSpPr/>
          <p:nvPr/>
        </p:nvSpPr>
        <p:spPr>
          <a:xfrm>
            <a:off x="10795000" y="4028678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10795000" y="3736578"/>
            <a:ext cx="69329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MID-MARKET GAP</a:t>
            </a:r>
            <a:endParaRPr lang="en-US" sz="140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82" y="4133453"/>
            <a:ext cx="6731000" cy="5833467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7"/>
          <p:cNvSpPr/>
          <p:nvPr/>
        </p:nvSpPr>
        <p:spPr>
          <a:xfrm>
            <a:off x="762000" y="9950451"/>
            <a:ext cx="390079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MerchAI customer interviews; McKinsey Retail AI 2024</a:t>
            </a:r>
            <a:endParaRPr lang="en-US" sz="975"/>
          </a:p>
        </p:txBody>
      </p:sp>
      <p:sp>
        <p:nvSpPr>
          <p:cNvPr id="31" name="Text 28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/>
          </a:p>
        </p:txBody>
      </p:sp>
      <p:pic>
        <p:nvPicPr>
          <p:cNvPr id="32" name="Picture 33">
            <a:extLst>
              <a:ext uri="{FF2B5EF4-FFF2-40B4-BE49-F238E27FC236}">
                <a16:creationId xmlns:a16="http://schemas.microsoft.com/office/drawing/2014/main" id="{BA6E42B3-F871-EDDB-5C54-42A71EF97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4" name="Shape 17">
            <a:extLst>
              <a:ext uri="{FF2B5EF4-FFF2-40B4-BE49-F238E27FC236}">
                <a16:creationId xmlns:a16="http://schemas.microsoft.com/office/drawing/2014/main" id="{FC504A74-73E8-F453-0410-972C1EEAC936}"/>
              </a:ext>
            </a:extLst>
          </p:cNvPr>
          <p:cNvSpPr/>
          <p:nvPr/>
        </p:nvSpPr>
        <p:spPr>
          <a:xfrm>
            <a:off x="762000" y="8571831"/>
            <a:ext cx="9399397" cy="650256"/>
          </a:xfrm>
          <a:prstGeom prst="rect">
            <a:avLst/>
          </a:prstGeom>
          <a:solidFill>
            <a:srgbClr val="E8F0F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Many mid sized companies assume advanced analytics is out of reach.</a:t>
            </a:r>
          </a:p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But AI and machine learning now make powerful insights affordable and easy to use.</a:t>
            </a:r>
            <a:endParaRPr lang="de-AT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4611F72-4C6F-51EA-38D1-51A70B285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168900" y="7790388"/>
            <a:ext cx="470162" cy="470162"/>
          </a:xfrm>
          <a:prstGeom prst="rect">
            <a:avLst/>
          </a:prstGeom>
        </p:spPr>
      </p:pic>
      <p:sp>
        <p:nvSpPr>
          <p:cNvPr id="47" name="Text 4">
            <a:extLst>
              <a:ext uri="{FF2B5EF4-FFF2-40B4-BE49-F238E27FC236}">
                <a16:creationId xmlns:a16="http://schemas.microsoft.com/office/drawing/2014/main" id="{BFBA6F1F-AF25-F969-F10E-8A8CB03E1E6A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01· PROBLEM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65316" y="222250"/>
            <a:ext cx="75118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 delivers a daily AI briefing: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decisions, not dashboards.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 the manager opens one screen and sees what to do, why, and how confident the system is.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4028678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62000" y="3736578"/>
            <a:ext cx="69329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MANAGER SEES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762000" y="4555034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62000" y="4187428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181100" y="4181078"/>
            <a:ext cx="5563615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 err="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-coded briefing cards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400" b="1" kern="0" spc="54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Markdown</a:t>
            </a: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25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</a:t>
            </a: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25" b="1" kern="0" spc="-6">
                <a:solidFill>
                  <a:srgbClr val="1E9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425" b="1"/>
          </a:p>
        </p:txBody>
      </p:sp>
      <p:sp>
        <p:nvSpPr>
          <p:cNvPr id="16" name="Shape 14"/>
          <p:cNvSpPr/>
          <p:nvPr/>
        </p:nvSpPr>
        <p:spPr>
          <a:xfrm>
            <a:off x="762000" y="5036939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762000" y="4669334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02</a:t>
            </a:r>
          </a:p>
        </p:txBody>
      </p:sp>
      <p:sp>
        <p:nvSpPr>
          <p:cNvPr id="18" name="Text 16"/>
          <p:cNvSpPr/>
          <p:nvPr/>
        </p:nvSpPr>
        <p:spPr>
          <a:xfrm>
            <a:off x="1181100" y="4662984"/>
            <a:ext cx="6221548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badges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High / Medium / Low, derived from signal magnitude</a:t>
            </a:r>
            <a:endParaRPr lang="en-US" sz="1425"/>
          </a:p>
        </p:txBody>
      </p:sp>
      <p:sp>
        <p:nvSpPr>
          <p:cNvPr id="19" name="Shape 17"/>
          <p:cNvSpPr/>
          <p:nvPr/>
        </p:nvSpPr>
        <p:spPr>
          <a:xfrm>
            <a:off x="762000" y="5531545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762000" y="5157589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03</a:t>
            </a:r>
          </a:p>
        </p:txBody>
      </p:sp>
      <p:sp>
        <p:nvSpPr>
          <p:cNvPr id="21" name="Text 19"/>
          <p:cNvSpPr/>
          <p:nvPr/>
        </p:nvSpPr>
        <p:spPr>
          <a:xfrm>
            <a:off x="1181100" y="5157589"/>
            <a:ext cx="5671227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check results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expandable panel showing what was verified</a:t>
            </a:r>
            <a:endParaRPr lang="en-US" sz="1425"/>
          </a:p>
        </p:txBody>
      </p:sp>
      <p:sp>
        <p:nvSpPr>
          <p:cNvPr id="22" name="Shape 20"/>
          <p:cNvSpPr/>
          <p:nvPr/>
        </p:nvSpPr>
        <p:spPr>
          <a:xfrm>
            <a:off x="762000" y="6292850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762000" y="5779195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04</a:t>
            </a:r>
          </a:p>
        </p:txBody>
      </p:sp>
      <p:sp>
        <p:nvSpPr>
          <p:cNvPr id="24" name="Text 22"/>
          <p:cNvSpPr/>
          <p:nvPr/>
        </p:nvSpPr>
        <p:spPr>
          <a:xfrm>
            <a:off x="1181100" y="5652195"/>
            <a:ext cx="6363377" cy="32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Recommended Action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· system pre-calculates the optimal move (Promote, Restock, or Markdown) with projected margin impact</a:t>
            </a:r>
          </a:p>
        </p:txBody>
      </p:sp>
      <p:sp>
        <p:nvSpPr>
          <p:cNvPr id="25" name="Text 23"/>
          <p:cNvSpPr/>
          <p:nvPr/>
        </p:nvSpPr>
        <p:spPr>
          <a:xfrm>
            <a:off x="762000" y="6394450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05</a:t>
            </a:r>
          </a:p>
        </p:txBody>
      </p:sp>
      <p:sp>
        <p:nvSpPr>
          <p:cNvPr id="26" name="Text 24"/>
          <p:cNvSpPr/>
          <p:nvPr/>
        </p:nvSpPr>
        <p:spPr>
          <a:xfrm>
            <a:off x="1181100" y="6388100"/>
            <a:ext cx="5350027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300" b="1" kern="0" spc="-6">
                <a:solidFill>
                  <a:srgbClr val="0D1F3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One-click Accept / Reject </a:t>
            </a:r>
            <a:r>
              <a:rPr lang="en-US" sz="1300" kern="0" spc="-6">
                <a:solidFill>
                  <a:srgbClr val="0D1F3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· </a:t>
            </a:r>
            <a:r>
              <a:rPr lang="en-US" sz="1300" noProof="1">
                <a:latin typeface="Arial" panose="020B0604020202020204" pitchFamily="34" charset="0"/>
                <a:cs typeface="Arial" panose="020B0604020202020204" pitchFamily="34" charset="0"/>
              </a:rPr>
              <a:t>system pre-calculates the exact action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02600" y="4028678"/>
            <a:ext cx="94234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8102600" y="3736578"/>
            <a:ext cx="97061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UI: LIVE PROTOTYPE</a:t>
            </a:r>
            <a:endParaRPr lang="en-US" sz="1400"/>
          </a:p>
        </p:txBody>
      </p:sp>
      <p:sp>
        <p:nvSpPr>
          <p:cNvPr id="83" name="Shape 81"/>
          <p:cNvSpPr/>
          <p:nvPr/>
        </p:nvSpPr>
        <p:spPr>
          <a:xfrm>
            <a:off x="93616" y="9711448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4" name="Text 82"/>
          <p:cNvSpPr/>
          <p:nvPr/>
        </p:nvSpPr>
        <p:spPr>
          <a:xfrm>
            <a:off x="762000" y="9950451"/>
            <a:ext cx="322896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· prototype on M5 Walmart data</a:t>
            </a:r>
            <a:endParaRPr lang="en-US" sz="975"/>
          </a:p>
        </p:txBody>
      </p:sp>
      <p:sp>
        <p:nvSpPr>
          <p:cNvPr id="85" name="Text 83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/>
          </a:p>
        </p:txBody>
      </p:sp>
      <p:pic>
        <p:nvPicPr>
          <p:cNvPr id="86" name="Picture 33">
            <a:extLst>
              <a:ext uri="{FF2B5EF4-FFF2-40B4-BE49-F238E27FC236}">
                <a16:creationId xmlns:a16="http://schemas.microsoft.com/office/drawing/2014/main" id="{5E39175E-798D-52A4-5AB1-E6A9D9515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4" name="Text 26">
            <a:extLst>
              <a:ext uri="{FF2B5EF4-FFF2-40B4-BE49-F238E27FC236}">
                <a16:creationId xmlns:a16="http://schemas.microsoft.com/office/drawing/2014/main" id="{E5156917-4304-5E7F-7D03-74193E05F7BB}"/>
              </a:ext>
            </a:extLst>
          </p:cNvPr>
          <p:cNvSpPr/>
          <p:nvPr/>
        </p:nvSpPr>
        <p:spPr>
          <a:xfrm>
            <a:off x="761385" y="7614841"/>
            <a:ext cx="470916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2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DECISION TYPES</a:t>
            </a:r>
            <a:endParaRPr lang="en-US" sz="1200"/>
          </a:p>
        </p:txBody>
      </p:sp>
      <p:sp>
        <p:nvSpPr>
          <p:cNvPr id="5" name="Shape 27">
            <a:extLst>
              <a:ext uri="{FF2B5EF4-FFF2-40B4-BE49-F238E27FC236}">
                <a16:creationId xmlns:a16="http://schemas.microsoft.com/office/drawing/2014/main" id="{675B3A94-63C0-A6FB-1034-2815170AE177}"/>
              </a:ext>
            </a:extLst>
          </p:cNvPr>
          <p:cNvSpPr/>
          <p:nvPr/>
        </p:nvSpPr>
        <p:spPr>
          <a:xfrm>
            <a:off x="800100" y="8442065"/>
            <a:ext cx="4572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6A730BC4-DD01-CC5A-3DCE-F96FE9E2EF5B}"/>
              </a:ext>
            </a:extLst>
          </p:cNvPr>
          <p:cNvSpPr/>
          <p:nvPr/>
        </p:nvSpPr>
        <p:spPr>
          <a:xfrm>
            <a:off x="1887421" y="9167583"/>
            <a:ext cx="5657056" cy="443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price before it expires. </a:t>
            </a:r>
            <a:r>
              <a:rPr lang="en-US" sz="12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action - protect margin on slowing demand.</a:t>
            </a:r>
            <a:endParaRPr lang="en-US" sz="1200"/>
          </a:p>
        </p:txBody>
      </p:sp>
      <p:sp>
        <p:nvSpPr>
          <p:cNvPr id="90" name="Shape 31">
            <a:extLst>
              <a:ext uri="{FF2B5EF4-FFF2-40B4-BE49-F238E27FC236}">
                <a16:creationId xmlns:a16="http://schemas.microsoft.com/office/drawing/2014/main" id="{F179DA6C-F445-62E9-357C-A6429D81C5C7}"/>
              </a:ext>
            </a:extLst>
          </p:cNvPr>
          <p:cNvSpPr/>
          <p:nvPr/>
        </p:nvSpPr>
        <p:spPr>
          <a:xfrm>
            <a:off x="800100" y="9094923"/>
            <a:ext cx="4572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3" name="Text 34">
            <a:extLst>
              <a:ext uri="{FF2B5EF4-FFF2-40B4-BE49-F238E27FC236}">
                <a16:creationId xmlns:a16="http://schemas.microsoft.com/office/drawing/2014/main" id="{065E1FB6-CEE3-E998-54D0-98190D58A3E5}"/>
              </a:ext>
            </a:extLst>
          </p:cNvPr>
          <p:cNvSpPr/>
          <p:nvPr/>
        </p:nvSpPr>
        <p:spPr>
          <a:xfrm>
            <a:off x="1887421" y="8423273"/>
            <a:ext cx="5657056" cy="628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more before you run out. </a:t>
            </a:r>
            <a:r>
              <a:rPr lang="en-US" sz="12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action - meet an incoming demand spike.</a:t>
            </a:r>
            <a:endParaRPr lang="en-US" sz="120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CBE65C7E-3B6E-6333-8599-F3E35AC3B3FB}"/>
              </a:ext>
            </a:extLst>
          </p:cNvPr>
          <p:cNvSpPr/>
          <p:nvPr/>
        </p:nvSpPr>
        <p:spPr>
          <a:xfrm>
            <a:off x="1887421" y="7903274"/>
            <a:ext cx="5611948" cy="357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this product harder. </a:t>
            </a:r>
            <a:r>
              <a:rPr lang="en-US" sz="12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 action - </a:t>
            </a:r>
            <a:r>
              <a:rPr lang="en-US" sz="120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capitalise</a:t>
            </a:r>
            <a:r>
              <a:rPr lang="en-US" sz="12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growth potential.</a:t>
            </a:r>
            <a:endParaRPr lang="en-US" sz="1200"/>
          </a:p>
        </p:txBody>
      </p:sp>
      <p:sp>
        <p:nvSpPr>
          <p:cNvPr id="97" name="Shape 40">
            <a:extLst>
              <a:ext uri="{FF2B5EF4-FFF2-40B4-BE49-F238E27FC236}">
                <a16:creationId xmlns:a16="http://schemas.microsoft.com/office/drawing/2014/main" id="{D8C8CDFC-81C4-0EBE-926D-6804D0A60CEA}"/>
              </a:ext>
            </a:extLst>
          </p:cNvPr>
          <p:cNvSpPr/>
          <p:nvPr/>
        </p:nvSpPr>
        <p:spPr>
          <a:xfrm>
            <a:off x="730210" y="9262667"/>
            <a:ext cx="1060489" cy="252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AT">
              <a:solidFill>
                <a:schemeClr val="accent4"/>
              </a:solidFill>
            </a:endParaRPr>
          </a:p>
        </p:txBody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35E9D715-1487-7A53-B927-7FD91192049A}"/>
              </a:ext>
            </a:extLst>
          </p:cNvPr>
          <p:cNvSpPr/>
          <p:nvPr/>
        </p:nvSpPr>
        <p:spPr>
          <a:xfrm>
            <a:off x="782865" y="9250603"/>
            <a:ext cx="955178" cy="277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54">
                <a:solidFill>
                  <a:schemeClr val="accent4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9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0187D236-58C3-7468-2FBE-3584EAA7C353}"/>
              </a:ext>
            </a:extLst>
          </p:cNvPr>
          <p:cNvSpPr/>
          <p:nvPr/>
        </p:nvSpPr>
        <p:spPr>
          <a:xfrm>
            <a:off x="730210" y="8608090"/>
            <a:ext cx="1060489" cy="3048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0" name="Text 41">
            <a:extLst>
              <a:ext uri="{FF2B5EF4-FFF2-40B4-BE49-F238E27FC236}">
                <a16:creationId xmlns:a16="http://schemas.microsoft.com/office/drawing/2014/main" id="{447B01A1-7F23-9E84-4F41-6B6C57B1BFAA}"/>
              </a:ext>
            </a:extLst>
          </p:cNvPr>
          <p:cNvSpPr/>
          <p:nvPr/>
        </p:nvSpPr>
        <p:spPr>
          <a:xfrm>
            <a:off x="810593" y="8594297"/>
            <a:ext cx="955178" cy="33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kern="0" spc="54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RESTOCK</a:t>
            </a:r>
          </a:p>
        </p:txBody>
      </p:sp>
      <p:sp>
        <p:nvSpPr>
          <p:cNvPr id="101" name="Shape 40">
            <a:extLst>
              <a:ext uri="{FF2B5EF4-FFF2-40B4-BE49-F238E27FC236}">
                <a16:creationId xmlns:a16="http://schemas.microsoft.com/office/drawing/2014/main" id="{3513B26C-976A-ADDE-CF9E-5040FD5E3505}"/>
              </a:ext>
            </a:extLst>
          </p:cNvPr>
          <p:cNvSpPr/>
          <p:nvPr/>
        </p:nvSpPr>
        <p:spPr>
          <a:xfrm>
            <a:off x="730210" y="7930150"/>
            <a:ext cx="1060489" cy="30600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2" name="Text 41">
            <a:extLst>
              <a:ext uri="{FF2B5EF4-FFF2-40B4-BE49-F238E27FC236}">
                <a16:creationId xmlns:a16="http://schemas.microsoft.com/office/drawing/2014/main" id="{D0D849ED-CE8E-F69F-2FAE-CF8C6A811F8D}"/>
              </a:ext>
            </a:extLst>
          </p:cNvPr>
          <p:cNvSpPr/>
          <p:nvPr/>
        </p:nvSpPr>
        <p:spPr>
          <a:xfrm>
            <a:off x="782865" y="7914669"/>
            <a:ext cx="955178" cy="33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kern="0" spc="54">
                <a:solidFill>
                  <a:srgbClr val="24966B"/>
                </a:solidFill>
                <a:latin typeface="Arial" pitchFamily="34" charset="0"/>
                <a:cs typeface="Arial" pitchFamily="34" charset="-120"/>
              </a:rPr>
              <a:t>PROMOTE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BCEBBBC-69DE-534B-622E-4340981AEC22}"/>
              </a:ext>
            </a:extLst>
          </p:cNvPr>
          <p:cNvGrpSpPr/>
          <p:nvPr/>
        </p:nvGrpSpPr>
        <p:grpSpPr>
          <a:xfrm>
            <a:off x="8102600" y="4129632"/>
            <a:ext cx="9423400" cy="5530758"/>
            <a:chOff x="8102600" y="4129632"/>
            <a:chExt cx="9423400" cy="553075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5F0F407-5540-8AA7-0BC7-5AA4E54488AF}"/>
                </a:ext>
              </a:extLst>
            </p:cNvPr>
            <p:cNvGrpSpPr/>
            <p:nvPr/>
          </p:nvGrpSpPr>
          <p:grpSpPr>
            <a:xfrm>
              <a:off x="8102600" y="4129632"/>
              <a:ext cx="9423400" cy="5459763"/>
              <a:chOff x="8102600" y="4129632"/>
              <a:chExt cx="9423400" cy="5459763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C4B1DBC-43F0-6406-5688-503338053C28}"/>
                  </a:ext>
                </a:extLst>
              </p:cNvPr>
              <p:cNvGrpSpPr/>
              <p:nvPr/>
            </p:nvGrpSpPr>
            <p:grpSpPr>
              <a:xfrm>
                <a:off x="8102600" y="4697957"/>
                <a:ext cx="9275763" cy="4891438"/>
                <a:chOff x="8102600" y="5297403"/>
                <a:chExt cx="9275763" cy="4891438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166030D7-CE9E-F582-53DA-47A16B76E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19417" r="1567" b="12189"/>
                <a:stretch/>
              </p:blipFill>
              <p:spPr>
                <a:xfrm>
                  <a:off x="8102600" y="5297403"/>
                  <a:ext cx="9275763" cy="4028235"/>
                </a:xfrm>
                <a:prstGeom prst="rect">
                  <a:avLst/>
                </a:prstGeom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0CE40DED-5FEA-5409-1B8A-90047215FF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t="4871" b="81834"/>
                <a:stretch/>
              </p:blipFill>
              <p:spPr>
                <a:xfrm>
                  <a:off x="8102600" y="8149339"/>
                  <a:ext cx="2200195" cy="361821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5F0A9640-694E-045C-2759-6F84D2C278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t="28568" b="8620"/>
                <a:stretch/>
              </p:blipFill>
              <p:spPr>
                <a:xfrm>
                  <a:off x="8102600" y="8479427"/>
                  <a:ext cx="2200195" cy="1709414"/>
                </a:xfrm>
                <a:prstGeom prst="rect">
                  <a:avLst/>
                </a:prstGeom>
              </p:spPr>
            </p:pic>
          </p:grp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7066B9D8-B5AF-DDFB-5D00-D3411B7FFF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89920"/>
              <a:stretch/>
            </p:blipFill>
            <p:spPr>
              <a:xfrm>
                <a:off x="8102600" y="4129632"/>
                <a:ext cx="9423400" cy="593677"/>
              </a:xfrm>
              <a:prstGeom prst="rect">
                <a:avLst/>
              </a:prstGeom>
            </p:spPr>
          </p:pic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AE17202-DBD0-EC66-9A92-A79CB0552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98671" y="7716147"/>
              <a:ext cx="6301147" cy="194424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9C42ACD-9374-EBC4-D23D-32EA8D5E2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93726" y="5497769"/>
              <a:ext cx="6301147" cy="2248594"/>
            </a:xfrm>
            <a:prstGeom prst="rect">
              <a:avLst/>
            </a:prstGeom>
          </p:spPr>
        </p:pic>
      </p:grpSp>
      <p:sp>
        <p:nvSpPr>
          <p:cNvPr id="38" name="Text 4">
            <a:extLst>
              <a:ext uri="{FF2B5EF4-FFF2-40B4-BE49-F238E27FC236}">
                <a16:creationId xmlns:a16="http://schemas.microsoft.com/office/drawing/2014/main" id="{E033E7FE-7CF0-47A6-FDE3-0DDC10CC7A88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</a:t>
            </a:r>
            <a:endParaRPr lang="en-US" sz="1200"/>
          </a:p>
        </p:txBody>
      </p:sp>
      <p:sp>
        <p:nvSpPr>
          <p:cNvPr id="6" name="Shape 20">
            <a:extLst>
              <a:ext uri="{FF2B5EF4-FFF2-40B4-BE49-F238E27FC236}">
                <a16:creationId xmlns:a16="http://schemas.microsoft.com/office/drawing/2014/main" id="{3BE91547-6C12-A4E6-626E-95210EB3A159}"/>
              </a:ext>
            </a:extLst>
          </p:cNvPr>
          <p:cNvSpPr/>
          <p:nvPr/>
        </p:nvSpPr>
        <p:spPr>
          <a:xfrm>
            <a:off x="762000" y="6787693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C90DBC03-DB37-FAE8-3FA5-786A0D37DF2A}"/>
              </a:ext>
            </a:extLst>
          </p:cNvPr>
          <p:cNvSpPr/>
          <p:nvPr/>
        </p:nvSpPr>
        <p:spPr>
          <a:xfrm>
            <a:off x="762000" y="6914693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-6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06</a:t>
            </a:r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1F485EFC-6483-4F01-957A-3420827814BF}"/>
              </a:ext>
            </a:extLst>
          </p:cNvPr>
          <p:cNvSpPr/>
          <p:nvPr/>
        </p:nvSpPr>
        <p:spPr>
          <a:xfrm>
            <a:off x="1181100" y="6908343"/>
            <a:ext cx="5350027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Data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plain-English Q&amp;A grounded in the live forecast</a:t>
            </a:r>
            <a:endParaRPr lang="en-US" sz="14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61247" y="252710"/>
            <a:ext cx="726298" cy="166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from raw POS to a cited, verified recommendation in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60 seconds.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</a:t>
            </a:r>
            <a:r>
              <a:rPr lang="en-US" i="1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-</a:t>
            </a: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does not generate the numbers. The forecast does.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965178"/>
            <a:ext cx="3108920" cy="13182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958850" y="4200128"/>
            <a:ext cx="279667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FORECAST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58850" y="4422378"/>
            <a:ext cx="279667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-1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425"/>
          </a:p>
        </p:txBody>
      </p:sp>
      <p:sp>
        <p:nvSpPr>
          <p:cNvPr id="14" name="Text 12"/>
          <p:cNvSpPr/>
          <p:nvPr/>
        </p:nvSpPr>
        <p:spPr>
          <a:xfrm>
            <a:off x="958850" y="4701778"/>
            <a:ext cx="279667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Per-store demand model. Outputs SKU-level delta_pct vs. 28-day baseline.</a:t>
            </a:r>
            <a:endParaRPr lang="en-US" sz="110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070" y="4529038"/>
            <a:ext cx="190500" cy="1905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175720" y="3965178"/>
            <a:ext cx="3109020" cy="13182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4"/>
          <p:cNvSpPr/>
          <p:nvPr/>
        </p:nvSpPr>
        <p:spPr>
          <a:xfrm>
            <a:off x="4372570" y="4200128"/>
            <a:ext cx="279677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RETRIEVE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4372570" y="4422378"/>
            <a:ext cx="279677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-1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ChromaDB</a:t>
            </a:r>
            <a:endParaRPr lang="en-US" sz="1425"/>
          </a:p>
        </p:txBody>
      </p:sp>
      <p:sp>
        <p:nvSpPr>
          <p:cNvPr id="19" name="Text 16"/>
          <p:cNvSpPr/>
          <p:nvPr/>
        </p:nvSpPr>
        <p:spPr>
          <a:xfrm>
            <a:off x="4372570" y="4701778"/>
            <a:ext cx="2796779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context docs · SNAP, seasonality, weekday, price elasticity, YoY.</a:t>
            </a:r>
            <a:endParaRPr lang="en-US" sz="110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890" y="4529038"/>
            <a:ext cx="190500" cy="1905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589540" y="3965178"/>
            <a:ext cx="3108920" cy="1318220"/>
          </a:xfrm>
          <a:prstGeom prst="rect">
            <a:avLst/>
          </a:prstGeom>
          <a:solidFill>
            <a:srgbClr val="0D1F3C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18"/>
          <p:cNvSpPr/>
          <p:nvPr/>
        </p:nvSpPr>
        <p:spPr>
          <a:xfrm>
            <a:off x="7786390" y="4200128"/>
            <a:ext cx="279667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REASON</a:t>
            </a:r>
            <a:endParaRPr lang="en-US" sz="1200"/>
          </a:p>
        </p:txBody>
      </p:sp>
      <p:sp>
        <p:nvSpPr>
          <p:cNvPr id="23" name="Text 19"/>
          <p:cNvSpPr/>
          <p:nvPr/>
        </p:nvSpPr>
        <p:spPr>
          <a:xfrm>
            <a:off x="7786390" y="4422378"/>
            <a:ext cx="279667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-14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425"/>
          </a:p>
        </p:txBody>
      </p:sp>
      <p:sp>
        <p:nvSpPr>
          <p:cNvPr id="24" name="Text 20"/>
          <p:cNvSpPr/>
          <p:nvPr/>
        </p:nvSpPr>
        <p:spPr>
          <a:xfrm>
            <a:off x="7786390" y="4701778"/>
            <a:ext cx="279667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kern="0" spc="-6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forecast + context into plain-language recommendation with citations.</a:t>
            </a:r>
            <a:endParaRPr lang="en-US" sz="110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5611" y="4529038"/>
            <a:ext cx="190500" cy="1905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1003261" y="3965178"/>
            <a:ext cx="3109020" cy="13182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2"/>
          <p:cNvSpPr/>
          <p:nvPr/>
        </p:nvSpPr>
        <p:spPr>
          <a:xfrm>
            <a:off x="11200111" y="4200128"/>
            <a:ext cx="279677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VERIFY</a:t>
            </a:r>
            <a:endParaRPr lang="en-US" sz="1200"/>
          </a:p>
        </p:txBody>
      </p:sp>
      <p:sp>
        <p:nvSpPr>
          <p:cNvPr id="28" name="Text 23"/>
          <p:cNvSpPr/>
          <p:nvPr/>
        </p:nvSpPr>
        <p:spPr>
          <a:xfrm>
            <a:off x="11200111" y="4422378"/>
            <a:ext cx="279677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-1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Guard</a:t>
            </a:r>
            <a:endParaRPr lang="en-US" sz="1425"/>
          </a:p>
        </p:txBody>
      </p:sp>
      <p:sp>
        <p:nvSpPr>
          <p:cNvPr id="29" name="Text 24"/>
          <p:cNvSpPr/>
          <p:nvPr/>
        </p:nvSpPr>
        <p:spPr>
          <a:xfrm>
            <a:off x="11200111" y="4701778"/>
            <a:ext cx="2796779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54-phrase intent check + numeric regex with 2× tolerance.</a:t>
            </a:r>
            <a:endParaRPr lang="en-US" sz="110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430" y="4529038"/>
            <a:ext cx="190500" cy="1905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4417080" y="3965178"/>
            <a:ext cx="3108920" cy="13182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26"/>
          <p:cNvSpPr/>
          <p:nvPr/>
        </p:nvSpPr>
        <p:spPr>
          <a:xfrm>
            <a:off x="14613930" y="4200128"/>
            <a:ext cx="279667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DELIVER</a:t>
            </a:r>
            <a:endParaRPr lang="en-US" sz="1200"/>
          </a:p>
        </p:txBody>
      </p:sp>
      <p:sp>
        <p:nvSpPr>
          <p:cNvPr id="33" name="Text 27"/>
          <p:cNvSpPr/>
          <p:nvPr/>
        </p:nvSpPr>
        <p:spPr>
          <a:xfrm>
            <a:off x="14613930" y="4422378"/>
            <a:ext cx="279667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-1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425"/>
          </a:p>
        </p:txBody>
      </p:sp>
      <p:sp>
        <p:nvSpPr>
          <p:cNvPr id="34" name="Text 28"/>
          <p:cNvSpPr/>
          <p:nvPr/>
        </p:nvSpPr>
        <p:spPr>
          <a:xfrm>
            <a:off x="14613930" y="4701778"/>
            <a:ext cx="279667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cards · confidence badges · accept / reject · audit trail.</a:t>
            </a:r>
            <a:endParaRPr lang="en-US" sz="110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B6601C-7293-8F43-365B-C85F183A851A}"/>
              </a:ext>
            </a:extLst>
          </p:cNvPr>
          <p:cNvGrpSpPr/>
          <p:nvPr/>
        </p:nvGrpSpPr>
        <p:grpSpPr>
          <a:xfrm>
            <a:off x="14420909" y="7559080"/>
            <a:ext cx="5546344" cy="1041400"/>
            <a:chOff x="762000" y="7607498"/>
            <a:chExt cx="5546344" cy="1041400"/>
          </a:xfrm>
        </p:grpSpPr>
        <p:sp>
          <p:nvSpPr>
            <p:cNvPr id="35" name="Text 29"/>
            <p:cNvSpPr/>
            <p:nvPr/>
          </p:nvSpPr>
          <p:spPr>
            <a:xfrm>
              <a:off x="762000" y="7607498"/>
              <a:ext cx="5546344" cy="171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144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CYCLE TIME</a:t>
              </a:r>
              <a:endParaRPr lang="en-US" sz="1200"/>
            </a:p>
          </p:txBody>
        </p:sp>
        <p:sp>
          <p:nvSpPr>
            <p:cNvPr id="36" name="Text 30"/>
            <p:cNvSpPr/>
            <p:nvPr/>
          </p:nvSpPr>
          <p:spPr>
            <a:xfrm>
              <a:off x="762000" y="7836098"/>
              <a:ext cx="5546344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200" b="1" kern="0" spc="-6">
                  <a:solidFill>
                    <a:srgbClr val="1A73E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&lt; 60s</a:t>
              </a:r>
              <a:endParaRPr lang="en-US" sz="4200"/>
            </a:p>
          </p:txBody>
        </p:sp>
        <p:sp>
          <p:nvSpPr>
            <p:cNvPr id="37" name="Text 31"/>
            <p:cNvSpPr/>
            <p:nvPr/>
          </p:nvSpPr>
          <p:spPr>
            <a:xfrm>
              <a:off x="762000" y="8445698"/>
              <a:ext cx="5546344" cy="203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From overnight POS load to a manager's screen,</a:t>
              </a:r>
            </a:p>
            <a:p>
              <a:pPr marL="0" indent="0" algn="l">
                <a:buNone/>
              </a:pPr>
              <a:r>
                <a:rPr lang="en-US" sz="12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 store.</a:t>
              </a:r>
              <a:endParaRPr lang="en-US" sz="120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D547AC5-698A-86B6-8AD1-ADC6A3C75315}"/>
              </a:ext>
            </a:extLst>
          </p:cNvPr>
          <p:cNvGrpSpPr/>
          <p:nvPr/>
        </p:nvGrpSpPr>
        <p:grpSpPr>
          <a:xfrm>
            <a:off x="889000" y="7607498"/>
            <a:ext cx="5546344" cy="1041400"/>
            <a:chOff x="6451600" y="7607498"/>
            <a:chExt cx="5546344" cy="1041400"/>
          </a:xfrm>
        </p:grpSpPr>
        <p:sp>
          <p:nvSpPr>
            <p:cNvPr id="38" name="Text 32"/>
            <p:cNvSpPr/>
            <p:nvPr/>
          </p:nvSpPr>
          <p:spPr>
            <a:xfrm>
              <a:off x="6451600" y="7607498"/>
              <a:ext cx="5546344" cy="171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144">
                  <a:solidFill>
                    <a:srgbClr val="5B6472"/>
                  </a:solidFill>
                  <a:latin typeface="Arial" pitchFamily="34" charset="0"/>
                  <a:cs typeface="Arial" pitchFamily="34" charset="-120"/>
                </a:rPr>
                <a:t>NUMBERS</a:t>
              </a:r>
              <a:r>
                <a:rPr lang="en-US" sz="1200" b="1" kern="0" spc="144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200" b="1" kern="0" spc="144">
                  <a:solidFill>
                    <a:srgbClr val="5B6472"/>
                  </a:solidFill>
                  <a:latin typeface="Arial" pitchFamily="34" charset="0"/>
                  <a:cs typeface="Arial" pitchFamily="34" charset="-120"/>
                </a:rPr>
                <a:t>FROM</a:t>
              </a:r>
            </a:p>
          </p:txBody>
        </p:sp>
        <p:sp>
          <p:nvSpPr>
            <p:cNvPr id="39" name="Text 33"/>
            <p:cNvSpPr/>
            <p:nvPr/>
          </p:nvSpPr>
          <p:spPr>
            <a:xfrm>
              <a:off x="6451600" y="7836098"/>
              <a:ext cx="5546344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200" b="1" kern="0" spc="-6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LightGBM</a:t>
              </a:r>
              <a:endParaRPr lang="en-US" sz="4200"/>
            </a:p>
          </p:txBody>
        </p:sp>
        <p:sp>
          <p:nvSpPr>
            <p:cNvPr id="40" name="Text 34"/>
            <p:cNvSpPr/>
            <p:nvPr/>
          </p:nvSpPr>
          <p:spPr>
            <a:xfrm>
              <a:off x="6451600" y="8445698"/>
              <a:ext cx="5546344" cy="203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Trained per store on real POS data - never the LLM.</a:t>
              </a:r>
              <a:endParaRPr lang="en-US" sz="120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D4F1A76-408B-CE26-0B1D-609539DFAD69}"/>
              </a:ext>
            </a:extLst>
          </p:cNvPr>
          <p:cNvGrpSpPr/>
          <p:nvPr/>
        </p:nvGrpSpPr>
        <p:grpSpPr>
          <a:xfrm>
            <a:off x="7532390" y="7623274"/>
            <a:ext cx="5546344" cy="1041400"/>
            <a:chOff x="12141201" y="7607498"/>
            <a:chExt cx="5546344" cy="1041400"/>
          </a:xfrm>
        </p:grpSpPr>
        <p:sp>
          <p:nvSpPr>
            <p:cNvPr id="41" name="Text 35"/>
            <p:cNvSpPr/>
            <p:nvPr/>
          </p:nvSpPr>
          <p:spPr>
            <a:xfrm>
              <a:off x="12141201" y="7607498"/>
              <a:ext cx="5546344" cy="1714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b="1" kern="0" spc="144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WORDS FROM</a:t>
              </a:r>
              <a:endParaRPr lang="en-US" sz="1200"/>
            </a:p>
          </p:txBody>
        </p:sp>
        <p:sp>
          <p:nvSpPr>
            <p:cNvPr id="42" name="Text 36"/>
            <p:cNvSpPr/>
            <p:nvPr/>
          </p:nvSpPr>
          <p:spPr>
            <a:xfrm>
              <a:off x="12141201" y="7836098"/>
              <a:ext cx="5546344" cy="571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200" b="1" kern="0" spc="-6">
                  <a:solidFill>
                    <a:srgbClr val="0D1F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Claude Sonnet 4.6</a:t>
              </a:r>
              <a:endParaRPr lang="en-US" sz="4200"/>
            </a:p>
          </p:txBody>
        </p:sp>
        <p:sp>
          <p:nvSpPr>
            <p:cNvPr id="43" name="Text 37"/>
            <p:cNvSpPr/>
            <p:nvPr/>
          </p:nvSpPr>
          <p:spPr>
            <a:xfrm>
              <a:off x="12141201" y="8445698"/>
              <a:ext cx="5546344" cy="203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kern="0" spc="-6">
                  <a:solidFill>
                    <a:srgbClr val="5B64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Constrained to verbatim citation of forecast values.</a:t>
              </a:r>
              <a:endParaRPr lang="en-US" sz="1200"/>
            </a:p>
          </p:txBody>
        </p:sp>
      </p:grpSp>
      <p:sp>
        <p:nvSpPr>
          <p:cNvPr id="44" name="Shape 38"/>
          <p:cNvSpPr/>
          <p:nvPr/>
        </p:nvSpPr>
        <p:spPr>
          <a:xfrm>
            <a:off x="762000" y="8921750"/>
            <a:ext cx="16764000" cy="527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5" name="Text 39"/>
          <p:cNvSpPr/>
          <p:nvPr/>
        </p:nvSpPr>
        <p:spPr>
          <a:xfrm>
            <a:off x="1028700" y="9080500"/>
            <a:ext cx="1993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2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200"/>
          </a:p>
        </p:txBody>
      </p:sp>
      <p:sp>
        <p:nvSpPr>
          <p:cNvPr id="46" name="Text 40"/>
          <p:cNvSpPr/>
          <p:nvPr/>
        </p:nvSpPr>
        <p:spPr>
          <a:xfrm>
            <a:off x="2953526" y="9080500"/>
            <a:ext cx="1033307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-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a translator, not an oracle. Hallucinations on the numeric layer are blocked at step four - before the manager ever sees the card.</a:t>
            </a:r>
            <a:endParaRPr lang="en-US" sz="1300"/>
          </a:p>
        </p:txBody>
      </p:sp>
      <p:sp>
        <p:nvSpPr>
          <p:cNvPr id="47" name="Shape 41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8" name="Text 42"/>
          <p:cNvSpPr/>
          <p:nvPr/>
        </p:nvSpPr>
        <p:spPr>
          <a:xfrm>
            <a:off x="762000" y="9950451"/>
            <a:ext cx="422179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runs nightly · CPU-only forecasting · ChromaDB self-hosted</a:t>
            </a:r>
            <a:endParaRPr lang="en-US" sz="975"/>
          </a:p>
        </p:txBody>
      </p:sp>
      <p:sp>
        <p:nvSpPr>
          <p:cNvPr id="49" name="Text 43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/>
          </a:p>
        </p:txBody>
      </p:sp>
      <p:pic>
        <p:nvPicPr>
          <p:cNvPr id="50" name="Picture 33">
            <a:extLst>
              <a:ext uri="{FF2B5EF4-FFF2-40B4-BE49-F238E27FC236}">
                <a16:creationId xmlns:a16="http://schemas.microsoft.com/office/drawing/2014/main" id="{A512BF1A-3225-E8EB-A803-A1B5D12F8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5" name="Shape 37">
            <a:extLst>
              <a:ext uri="{FF2B5EF4-FFF2-40B4-BE49-F238E27FC236}">
                <a16:creationId xmlns:a16="http://schemas.microsoft.com/office/drawing/2014/main" id="{767214F8-D1C3-07CE-BDBC-26FCFE2005C1}"/>
              </a:ext>
            </a:extLst>
          </p:cNvPr>
          <p:cNvSpPr/>
          <p:nvPr/>
        </p:nvSpPr>
        <p:spPr>
          <a:xfrm>
            <a:off x="762001" y="5730082"/>
            <a:ext cx="3108920" cy="1416050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52" name="Text 39">
            <a:extLst>
              <a:ext uri="{FF2B5EF4-FFF2-40B4-BE49-F238E27FC236}">
                <a16:creationId xmlns:a16="http://schemas.microsoft.com/office/drawing/2014/main" id="{30BF8B58-E34A-2076-C32F-687440C63534}"/>
              </a:ext>
            </a:extLst>
          </p:cNvPr>
          <p:cNvSpPr/>
          <p:nvPr/>
        </p:nvSpPr>
        <p:spPr>
          <a:xfrm>
            <a:off x="958850" y="5772943"/>
            <a:ext cx="2114550" cy="238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Walmart M5</a:t>
            </a:r>
            <a:endParaRPr lang="en-US" sz="1200"/>
          </a:p>
        </p:txBody>
      </p:sp>
      <p:sp>
        <p:nvSpPr>
          <p:cNvPr id="53" name="Text 40">
            <a:extLst>
              <a:ext uri="{FF2B5EF4-FFF2-40B4-BE49-F238E27FC236}">
                <a16:creationId xmlns:a16="http://schemas.microsoft.com/office/drawing/2014/main" id="{BBE6F079-F5A8-BE60-9EC5-3BFB2EC17C72}"/>
              </a:ext>
            </a:extLst>
          </p:cNvPr>
          <p:cNvSpPr/>
          <p:nvPr/>
        </p:nvSpPr>
        <p:spPr>
          <a:xfrm>
            <a:off x="958850" y="6133835"/>
            <a:ext cx="2930246" cy="44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(Kaggle), then fine-tuned on the store's own POS history. Pure mathematical prediction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LLM involved at this stage.</a:t>
            </a:r>
            <a:endParaRPr lang="en-US" sz="1100"/>
          </a:p>
        </p:txBody>
      </p:sp>
      <p:sp>
        <p:nvSpPr>
          <p:cNvPr id="54" name="Shape 41">
            <a:extLst>
              <a:ext uri="{FF2B5EF4-FFF2-40B4-BE49-F238E27FC236}">
                <a16:creationId xmlns:a16="http://schemas.microsoft.com/office/drawing/2014/main" id="{B447A18B-9325-C853-1CE2-CFA6ECA67431}"/>
              </a:ext>
            </a:extLst>
          </p:cNvPr>
          <p:cNvSpPr/>
          <p:nvPr/>
        </p:nvSpPr>
        <p:spPr>
          <a:xfrm>
            <a:off x="4175719" y="5730082"/>
            <a:ext cx="3074591" cy="1416050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56" name="Text 43">
            <a:extLst>
              <a:ext uri="{FF2B5EF4-FFF2-40B4-BE49-F238E27FC236}">
                <a16:creationId xmlns:a16="http://schemas.microsoft.com/office/drawing/2014/main" id="{2F235FD1-6B34-8F8C-FC30-DD6DFC23935D}"/>
              </a:ext>
            </a:extLst>
          </p:cNvPr>
          <p:cNvSpPr/>
          <p:nvPr/>
        </p:nvSpPr>
        <p:spPr>
          <a:xfrm>
            <a:off x="4372570" y="5772943"/>
            <a:ext cx="2341876" cy="177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scoped retrieval.</a:t>
            </a:r>
            <a:endParaRPr lang="en-US" sz="1200"/>
          </a:p>
        </p:txBody>
      </p:sp>
      <p:sp>
        <p:nvSpPr>
          <p:cNvPr id="57" name="Text 44">
            <a:extLst>
              <a:ext uri="{FF2B5EF4-FFF2-40B4-BE49-F238E27FC236}">
                <a16:creationId xmlns:a16="http://schemas.microsoft.com/office/drawing/2014/main" id="{32448DCA-AC51-EB27-367E-B30559CBE29D}"/>
              </a:ext>
            </a:extLst>
          </p:cNvPr>
          <p:cNvSpPr/>
          <p:nvPr/>
        </p:nvSpPr>
        <p:spPr>
          <a:xfrm>
            <a:off x="4375394" y="6118225"/>
            <a:ext cx="2883747" cy="44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Re-weights the raw forecast against store-specific context (SNAP weeks, weather, promo calendar). The LLM only ever sees what we feed it.</a:t>
            </a:r>
            <a:endParaRPr lang="en-US" sz="1100"/>
          </a:p>
        </p:txBody>
      </p:sp>
      <p:sp>
        <p:nvSpPr>
          <p:cNvPr id="58" name="Shape 45">
            <a:extLst>
              <a:ext uri="{FF2B5EF4-FFF2-40B4-BE49-F238E27FC236}">
                <a16:creationId xmlns:a16="http://schemas.microsoft.com/office/drawing/2014/main" id="{A370C032-5B11-0677-25B5-76B4761A9DB8}"/>
              </a:ext>
            </a:extLst>
          </p:cNvPr>
          <p:cNvSpPr/>
          <p:nvPr/>
        </p:nvSpPr>
        <p:spPr>
          <a:xfrm>
            <a:off x="7587808" y="5730082"/>
            <a:ext cx="3108920" cy="1416050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04A0FB8B-FC10-87BB-0E5C-97F43E1F5CBF}"/>
              </a:ext>
            </a:extLst>
          </p:cNvPr>
          <p:cNvSpPr/>
          <p:nvPr/>
        </p:nvSpPr>
        <p:spPr>
          <a:xfrm>
            <a:off x="7766014" y="5769273"/>
            <a:ext cx="2132841" cy="177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Translator, not oracle.</a:t>
            </a:r>
            <a:endParaRPr lang="en-US" sz="1200"/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E623B771-8FDE-CF48-F76A-B33229A735EC}"/>
              </a:ext>
            </a:extLst>
          </p:cNvPr>
          <p:cNvSpPr/>
          <p:nvPr/>
        </p:nvSpPr>
        <p:spPr>
          <a:xfrm>
            <a:off x="7788771" y="6105625"/>
            <a:ext cx="2988600" cy="44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explicitly forbids inventing figures. Claude rewrites the forecast into manager-readable language.</a:t>
            </a:r>
            <a:endParaRPr lang="en-US" sz="110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A92B710C-E517-246D-9EB6-985E8B165B38}"/>
              </a:ext>
            </a:extLst>
          </p:cNvPr>
          <p:cNvSpPr/>
          <p:nvPr/>
        </p:nvSpPr>
        <p:spPr>
          <a:xfrm>
            <a:off x="11003261" y="5730082"/>
            <a:ext cx="3108920" cy="1416050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DA39F8E7-D8E7-9F0C-EF72-A9A0DE41B894}"/>
              </a:ext>
            </a:extLst>
          </p:cNvPr>
          <p:cNvSpPr/>
          <p:nvPr/>
        </p:nvSpPr>
        <p:spPr>
          <a:xfrm>
            <a:off x="11200111" y="5803205"/>
            <a:ext cx="2153895" cy="177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must match.</a:t>
            </a:r>
            <a:endParaRPr lang="en-US" sz="1200"/>
          </a:p>
        </p:txBody>
      </p:sp>
      <p:sp>
        <p:nvSpPr>
          <p:cNvPr id="65" name="Text 52">
            <a:extLst>
              <a:ext uri="{FF2B5EF4-FFF2-40B4-BE49-F238E27FC236}">
                <a16:creationId xmlns:a16="http://schemas.microsoft.com/office/drawing/2014/main" id="{A3E8D7E1-5A24-6FDC-DDA2-B9A1B0D85A38}"/>
              </a:ext>
            </a:extLst>
          </p:cNvPr>
          <p:cNvSpPr/>
          <p:nvPr/>
        </p:nvSpPr>
        <p:spPr>
          <a:xfrm>
            <a:off x="11221632" y="6129734"/>
            <a:ext cx="2933924" cy="296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Claude's output is regex-checked against the input. Mismatch &gt; 2% triggers a re-prompt.</a:t>
            </a:r>
            <a:endParaRPr lang="en-US" sz="1100"/>
          </a:p>
        </p:txBody>
      </p:sp>
      <p:sp>
        <p:nvSpPr>
          <p:cNvPr id="66" name="Shape 53">
            <a:extLst>
              <a:ext uri="{FF2B5EF4-FFF2-40B4-BE49-F238E27FC236}">
                <a16:creationId xmlns:a16="http://schemas.microsoft.com/office/drawing/2014/main" id="{B6E522D6-116B-522F-71DD-6B1AFA9672E9}"/>
              </a:ext>
            </a:extLst>
          </p:cNvPr>
          <p:cNvSpPr/>
          <p:nvPr/>
        </p:nvSpPr>
        <p:spPr>
          <a:xfrm>
            <a:off x="14417079" y="5730082"/>
            <a:ext cx="3108921" cy="1416050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68" name="Text 55">
            <a:extLst>
              <a:ext uri="{FF2B5EF4-FFF2-40B4-BE49-F238E27FC236}">
                <a16:creationId xmlns:a16="http://schemas.microsoft.com/office/drawing/2014/main" id="{79F0C43E-27D1-0EB2-04F3-CE77F93E9D56}"/>
              </a:ext>
            </a:extLst>
          </p:cNvPr>
          <p:cNvSpPr/>
          <p:nvPr/>
        </p:nvSpPr>
        <p:spPr>
          <a:xfrm>
            <a:off x="14613930" y="5797550"/>
            <a:ext cx="2217440" cy="177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Decision-ready output.</a:t>
            </a:r>
            <a:endParaRPr lang="en-US" sz="1200"/>
          </a:p>
        </p:txBody>
      </p:sp>
      <p:sp>
        <p:nvSpPr>
          <p:cNvPr id="69" name="Text 56">
            <a:extLst>
              <a:ext uri="{FF2B5EF4-FFF2-40B4-BE49-F238E27FC236}">
                <a16:creationId xmlns:a16="http://schemas.microsoft.com/office/drawing/2014/main" id="{439540E6-3E0E-D67E-E994-4B89FEA93C9F}"/>
              </a:ext>
            </a:extLst>
          </p:cNvPr>
          <p:cNvSpPr/>
          <p:nvPr/>
        </p:nvSpPr>
        <p:spPr>
          <a:xfrm>
            <a:off x="14613930" y="6155730"/>
            <a:ext cx="3037245" cy="296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card with citations + accept/reject buttons. Every action logged for the audit trail.</a:t>
            </a:r>
            <a:endParaRPr lang="en-US" sz="1100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2EF54B4E-FBA4-42C1-247F-07E0D95159ED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HOW IT WORKS</a:t>
            </a:r>
            <a:endParaRPr lang="en-US" sz="12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61B6-A8EA-9697-5810-C6FEFFF2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200495-8303-28FA-46B8-684D947EA76C}"/>
              </a:ext>
            </a:extLst>
          </p:cNvPr>
          <p:cNvSpPr/>
          <p:nvPr/>
        </p:nvSpPr>
        <p:spPr>
          <a:xfrm>
            <a:off x="0" y="120709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1DEFDB-0651-B001-15D8-0CCDD10748C9}"/>
              </a:ext>
            </a:extLst>
          </p:cNvPr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782D70-56D2-280B-2F67-DC16BF402882}"/>
              </a:ext>
            </a:extLst>
          </p:cNvPr>
          <p:cNvSpPr/>
          <p:nvPr/>
        </p:nvSpPr>
        <p:spPr>
          <a:xfrm>
            <a:off x="16968490" y="222250"/>
            <a:ext cx="106043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32DC20-7071-635E-5E36-6F7054045935}"/>
              </a:ext>
            </a:extLst>
          </p:cNvPr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 ACTION</a:t>
            </a:r>
            <a:endParaRPr lang="en-US"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952A82D-9E6F-76CC-E850-4313827F7F0F}"/>
              </a:ext>
            </a:extLst>
          </p:cNvPr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live on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Walmart data </a:t>
            </a: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three stores.</a:t>
            </a:r>
            <a:endParaRPr lang="en-US" sz="4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144449-3370-1D2D-6655-FB2C4EAE9B02}"/>
              </a:ext>
            </a:extLst>
          </p:cNvPr>
          <p:cNvSpPr/>
          <p:nvPr/>
        </p:nvSpPr>
        <p:spPr>
          <a:xfrm>
            <a:off x="762000" y="2848623"/>
            <a:ext cx="12753975" cy="62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deck demo. A running pipeline you can interrogate today.</a:t>
            </a:r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D9E031A-25AC-748D-F5E3-4C80961BF02C}"/>
              </a:ext>
            </a:extLst>
          </p:cNvPr>
          <p:cNvSpPr/>
          <p:nvPr/>
        </p:nvSpPr>
        <p:spPr>
          <a:xfrm>
            <a:off x="762000" y="8343900"/>
            <a:ext cx="77189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end-to-end by the four-person team in the course's project window. The same pipeline can ingest a partner chain's POS extract on day one.</a:t>
            </a:r>
            <a:endParaRPr lang="en-US" sz="12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EB9B805-3408-E958-FEE7-A8670CC80290}"/>
              </a:ext>
            </a:extLst>
          </p:cNvPr>
          <p:cNvSpPr/>
          <p:nvPr/>
        </p:nvSpPr>
        <p:spPr>
          <a:xfrm>
            <a:off x="9448800" y="40286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54B4E8-C126-D49C-578F-06E9DA517308}"/>
              </a:ext>
            </a:extLst>
          </p:cNvPr>
          <p:cNvSpPr/>
          <p:nvPr/>
        </p:nvSpPr>
        <p:spPr>
          <a:xfrm>
            <a:off x="9448800" y="37365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BRIEFING CARD · CA_1</a:t>
            </a:r>
            <a:endParaRPr lang="en-US" sz="105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558CEA72-D353-5D04-46B2-82AAA2E8DF45}"/>
              </a:ext>
            </a:extLst>
          </p:cNvPr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5DCDFA50-B975-CD24-22F2-6A891851E8F8}"/>
              </a:ext>
            </a:extLst>
          </p:cNvPr>
          <p:cNvSpPr/>
          <p:nvPr/>
        </p:nvSpPr>
        <p:spPr>
          <a:xfrm>
            <a:off x="762000" y="9950451"/>
            <a:ext cx="461646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M5 Forecasting Competition · Kaggle · 42,840 SKUs × 1,941 days</a:t>
            </a:r>
            <a:endParaRPr lang="en-US" sz="975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12529E6-64FE-7BC0-5909-F04D2F582DE7}"/>
              </a:ext>
            </a:extLst>
          </p:cNvPr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/>
          </a:p>
        </p:txBody>
      </p:sp>
      <p:pic>
        <p:nvPicPr>
          <p:cNvPr id="71" name="Picture 33">
            <a:extLst>
              <a:ext uri="{FF2B5EF4-FFF2-40B4-BE49-F238E27FC236}">
                <a16:creationId xmlns:a16="http://schemas.microsoft.com/office/drawing/2014/main" id="{DDDF06E0-3942-D087-8F10-516195420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76" name="Text 10">
            <a:extLst>
              <a:ext uri="{FF2B5EF4-FFF2-40B4-BE49-F238E27FC236}">
                <a16:creationId xmlns:a16="http://schemas.microsoft.com/office/drawing/2014/main" id="{84A4F250-771B-36F9-F49C-03F28DBACE2C}"/>
              </a:ext>
            </a:extLst>
          </p:cNvPr>
          <p:cNvSpPr/>
          <p:nvPr/>
        </p:nvSpPr>
        <p:spPr>
          <a:xfrm>
            <a:off x="762000" y="37365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POINTS</a:t>
            </a:r>
            <a:endParaRPr lang="en-US" sz="105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EF9CD9F6-BA0E-748B-0C5F-A71BF0684DE2}"/>
              </a:ext>
            </a:extLst>
          </p:cNvPr>
          <p:cNvSpPr/>
          <p:nvPr/>
        </p:nvSpPr>
        <p:spPr>
          <a:xfrm>
            <a:off x="799989" y="4028678"/>
            <a:ext cx="3419812" cy="100800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91A92D64-F7BF-4054-A286-664B89E272B1}"/>
              </a:ext>
            </a:extLst>
          </p:cNvPr>
          <p:cNvSpPr/>
          <p:nvPr/>
        </p:nvSpPr>
        <p:spPr>
          <a:xfrm>
            <a:off x="5061168" y="4028678"/>
            <a:ext cx="3419812" cy="100800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2" name="Shape 9">
            <a:extLst>
              <a:ext uri="{FF2B5EF4-FFF2-40B4-BE49-F238E27FC236}">
                <a16:creationId xmlns:a16="http://schemas.microsoft.com/office/drawing/2014/main" id="{0240FABA-C678-71D7-D7DC-16ECC0C8B5D6}"/>
              </a:ext>
            </a:extLst>
          </p:cNvPr>
          <p:cNvSpPr/>
          <p:nvPr/>
        </p:nvSpPr>
        <p:spPr>
          <a:xfrm>
            <a:off x="767427" y="5482745"/>
            <a:ext cx="3419812" cy="100800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4BE83E11-C137-0898-459C-3CAE36CC2BC2}"/>
              </a:ext>
            </a:extLst>
          </p:cNvPr>
          <p:cNvSpPr/>
          <p:nvPr/>
        </p:nvSpPr>
        <p:spPr>
          <a:xfrm>
            <a:off x="5061168" y="5482745"/>
            <a:ext cx="3419812" cy="100800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9A79A5F8-FEF7-0801-B3DA-CABD94F063E5}"/>
              </a:ext>
            </a:extLst>
          </p:cNvPr>
          <p:cNvSpPr/>
          <p:nvPr/>
        </p:nvSpPr>
        <p:spPr>
          <a:xfrm>
            <a:off x="799989" y="6954398"/>
            <a:ext cx="3419812" cy="100800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E9510F7D-A0AD-6B1D-97D6-82A04666557F}"/>
              </a:ext>
            </a:extLst>
          </p:cNvPr>
          <p:cNvSpPr/>
          <p:nvPr/>
        </p:nvSpPr>
        <p:spPr>
          <a:xfrm>
            <a:off x="5061168" y="6954398"/>
            <a:ext cx="3419812" cy="1008000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21E06485-E15F-027A-0579-86E33E005C86}"/>
              </a:ext>
            </a:extLst>
          </p:cNvPr>
          <p:cNvSpPr/>
          <p:nvPr/>
        </p:nvSpPr>
        <p:spPr>
          <a:xfrm>
            <a:off x="1172732" y="4183479"/>
            <a:ext cx="26743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 (28-day holdout)</a:t>
            </a:r>
            <a:endParaRPr lang="en-US" sz="1275" b="1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A24CA12F-F0A4-5ADA-DF5D-B96974910A9F}"/>
              </a:ext>
            </a:extLst>
          </p:cNvPr>
          <p:cNvSpPr/>
          <p:nvPr/>
        </p:nvSpPr>
        <p:spPr>
          <a:xfrm>
            <a:off x="1289872" y="4497585"/>
            <a:ext cx="23749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WRMSSE 0.74</a:t>
            </a:r>
            <a:endParaRPr lang="en-US" sz="1650"/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70794B34-71A1-8856-5EA9-7464C77E38A9}"/>
              </a:ext>
            </a:extLst>
          </p:cNvPr>
          <p:cNvSpPr/>
          <p:nvPr/>
        </p:nvSpPr>
        <p:spPr>
          <a:xfrm>
            <a:off x="5857357" y="4187916"/>
            <a:ext cx="182743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</a:t>
            </a: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275" b="1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64F15ACE-71A4-2A9C-8C68-E1B4A293491E}"/>
              </a:ext>
            </a:extLst>
          </p:cNvPr>
          <p:cNvSpPr/>
          <p:nvPr/>
        </p:nvSpPr>
        <p:spPr>
          <a:xfrm>
            <a:off x="5464867" y="4497585"/>
            <a:ext cx="261241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CA_1, CA_2, TX_1</a:t>
            </a:r>
            <a:endParaRPr lang="en-US" sz="1650">
              <a:solidFill>
                <a:srgbClr val="1A73E8"/>
              </a:solidFill>
            </a:endParaRPr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FE27222B-928C-6FA3-BB4A-94DD81C83245}"/>
              </a:ext>
            </a:extLst>
          </p:cNvPr>
          <p:cNvSpPr/>
          <p:nvPr/>
        </p:nvSpPr>
        <p:spPr>
          <a:xfrm flipV="1">
            <a:off x="796738" y="4990959"/>
            <a:ext cx="3421440" cy="45719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760F7A4B-964C-9220-8681-66A8F9895525}"/>
              </a:ext>
            </a:extLst>
          </p:cNvPr>
          <p:cNvSpPr/>
          <p:nvPr/>
        </p:nvSpPr>
        <p:spPr>
          <a:xfrm flipV="1">
            <a:off x="5060354" y="4990959"/>
            <a:ext cx="3421440" cy="45719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48DF6AE1-19EC-DE3A-5004-044392C038E3}"/>
              </a:ext>
            </a:extLst>
          </p:cNvPr>
          <p:cNvSpPr/>
          <p:nvPr/>
        </p:nvSpPr>
        <p:spPr>
          <a:xfrm>
            <a:off x="1472244" y="5669245"/>
            <a:ext cx="201017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context corpus</a:t>
            </a:r>
            <a:endParaRPr lang="en-US" sz="1200" b="1"/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8DA1B105-7B71-9E9D-46AF-FC7DB4DCDFA8}"/>
              </a:ext>
            </a:extLst>
          </p:cNvPr>
          <p:cNvSpPr/>
          <p:nvPr/>
        </p:nvSpPr>
        <p:spPr>
          <a:xfrm>
            <a:off x="1495959" y="5988996"/>
            <a:ext cx="19627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382 documents</a:t>
            </a:r>
            <a:endParaRPr lang="en-US" sz="1650">
              <a:solidFill>
                <a:srgbClr val="1A73E8"/>
              </a:solidFill>
            </a:endParaRPr>
          </a:p>
        </p:txBody>
      </p:sp>
      <p:sp>
        <p:nvSpPr>
          <p:cNvPr id="85" name="Shape 37">
            <a:extLst>
              <a:ext uri="{FF2B5EF4-FFF2-40B4-BE49-F238E27FC236}">
                <a16:creationId xmlns:a16="http://schemas.microsoft.com/office/drawing/2014/main" id="{94A28661-A09A-6155-C016-8FCBBD22E4DA}"/>
              </a:ext>
            </a:extLst>
          </p:cNvPr>
          <p:cNvSpPr/>
          <p:nvPr/>
        </p:nvSpPr>
        <p:spPr>
          <a:xfrm flipV="1">
            <a:off x="774658" y="6445026"/>
            <a:ext cx="3421440" cy="45719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6" name="Shape 37">
            <a:extLst>
              <a:ext uri="{FF2B5EF4-FFF2-40B4-BE49-F238E27FC236}">
                <a16:creationId xmlns:a16="http://schemas.microsoft.com/office/drawing/2014/main" id="{1AE5FB3A-D720-30B2-EC7E-94101918AFC8}"/>
              </a:ext>
            </a:extLst>
          </p:cNvPr>
          <p:cNvSpPr/>
          <p:nvPr/>
        </p:nvSpPr>
        <p:spPr>
          <a:xfrm flipV="1">
            <a:off x="5064350" y="6445026"/>
            <a:ext cx="3421440" cy="45719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E7C9AC36-FBF0-BB72-9F1B-79A6A2BC08B1}"/>
              </a:ext>
            </a:extLst>
          </p:cNvPr>
          <p:cNvSpPr/>
          <p:nvPr/>
        </p:nvSpPr>
        <p:spPr>
          <a:xfrm>
            <a:off x="5554917" y="5662414"/>
            <a:ext cx="243231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guard phrases</a:t>
            </a:r>
            <a:endParaRPr lang="en-US" sz="1200" b="1"/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CA495F58-6DF2-C76E-DD54-C2710D4CB502}"/>
              </a:ext>
            </a:extLst>
          </p:cNvPr>
          <p:cNvSpPr/>
          <p:nvPr/>
        </p:nvSpPr>
        <p:spPr>
          <a:xfrm>
            <a:off x="6301369" y="6007497"/>
            <a:ext cx="100719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650">
              <a:solidFill>
                <a:srgbClr val="1A73E8"/>
              </a:solidFill>
            </a:endParaRPr>
          </a:p>
        </p:txBody>
      </p:sp>
      <p:sp>
        <p:nvSpPr>
          <p:cNvPr id="89" name="Shape 37">
            <a:extLst>
              <a:ext uri="{FF2B5EF4-FFF2-40B4-BE49-F238E27FC236}">
                <a16:creationId xmlns:a16="http://schemas.microsoft.com/office/drawing/2014/main" id="{EAA7EFD8-C835-A907-667D-6EA3252D7529}"/>
              </a:ext>
            </a:extLst>
          </p:cNvPr>
          <p:cNvSpPr/>
          <p:nvPr/>
        </p:nvSpPr>
        <p:spPr>
          <a:xfrm flipV="1">
            <a:off x="815189" y="7916679"/>
            <a:ext cx="3421440" cy="45719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0" name="Text 28">
            <a:extLst>
              <a:ext uri="{FF2B5EF4-FFF2-40B4-BE49-F238E27FC236}">
                <a16:creationId xmlns:a16="http://schemas.microsoft.com/office/drawing/2014/main" id="{DC39EC95-AA4E-EF0E-7591-61CB2721A3B7}"/>
              </a:ext>
            </a:extLst>
          </p:cNvPr>
          <p:cNvSpPr/>
          <p:nvPr/>
        </p:nvSpPr>
        <p:spPr>
          <a:xfrm>
            <a:off x="1505724" y="7154783"/>
            <a:ext cx="2010177" cy="37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types</a:t>
            </a:r>
            <a:endParaRPr lang="en-US" sz="1200" b="1"/>
          </a:p>
        </p:txBody>
      </p:sp>
      <p:sp>
        <p:nvSpPr>
          <p:cNvPr id="91" name="Text 30">
            <a:extLst>
              <a:ext uri="{FF2B5EF4-FFF2-40B4-BE49-F238E27FC236}">
                <a16:creationId xmlns:a16="http://schemas.microsoft.com/office/drawing/2014/main" id="{EFAF5558-DDE5-0F9B-48D7-ECC5F9213AD7}"/>
              </a:ext>
            </a:extLst>
          </p:cNvPr>
          <p:cNvSpPr/>
          <p:nvPr/>
        </p:nvSpPr>
        <p:spPr>
          <a:xfrm>
            <a:off x="768896" y="7401138"/>
            <a:ext cx="3477123" cy="407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650" b="1" kern="0" spc="-6">
                <a:solidFill>
                  <a:srgbClr val="1E9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</a:t>
            </a:r>
            <a:r>
              <a:rPr lang="en-US" sz="1650" b="1" kern="0" spc="-6"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650" b="1" kern="0" spc="-6">
                <a:solidFill>
                  <a:srgbClr val="1E9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 </a:t>
            </a:r>
            <a:r>
              <a:rPr lang="en-US" sz="1650" b="1" kern="0" spc="-6"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6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b="1" kern="0" spc="-6">
                <a:solidFill>
                  <a:srgbClr val="BA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1650">
              <a:solidFill>
                <a:srgbClr val="BA8800"/>
              </a:solidFill>
            </a:endParaRPr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062DADA8-B71F-CF59-059C-980A4D364301}"/>
              </a:ext>
            </a:extLst>
          </p:cNvPr>
          <p:cNvSpPr/>
          <p:nvPr/>
        </p:nvSpPr>
        <p:spPr>
          <a:xfrm>
            <a:off x="5771915" y="7154783"/>
            <a:ext cx="201017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75" b="1"/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1522A91B-8F3B-6906-035D-7680C43198E1}"/>
              </a:ext>
            </a:extLst>
          </p:cNvPr>
          <p:cNvSpPr/>
          <p:nvPr/>
        </p:nvSpPr>
        <p:spPr>
          <a:xfrm>
            <a:off x="5846334" y="7471406"/>
            <a:ext cx="1873574" cy="295815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 sz="2800"/>
          </a:p>
        </p:txBody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8506F20F-679D-A85E-DE80-B95AA44E6289}"/>
              </a:ext>
            </a:extLst>
          </p:cNvPr>
          <p:cNvSpPr/>
          <p:nvPr/>
        </p:nvSpPr>
        <p:spPr>
          <a:xfrm>
            <a:off x="5733282" y="7456197"/>
            <a:ext cx="2099678" cy="326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54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· TIMESTAMPED</a:t>
            </a:r>
            <a:endParaRPr lang="en-US" sz="1200"/>
          </a:p>
        </p:txBody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281730EE-7F52-3DA5-345B-7BF52C3C8E96}"/>
              </a:ext>
            </a:extLst>
          </p:cNvPr>
          <p:cNvSpPr/>
          <p:nvPr/>
        </p:nvSpPr>
        <p:spPr>
          <a:xfrm flipV="1">
            <a:off x="5059540" y="7916679"/>
            <a:ext cx="3421440" cy="45719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41E718-B390-D975-4307-09DAABC382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21"/>
          <a:stretch/>
        </p:blipFill>
        <p:spPr>
          <a:xfrm>
            <a:off x="9395460" y="4155148"/>
            <a:ext cx="8198820" cy="5361498"/>
          </a:xfrm>
          <a:prstGeom prst="rect">
            <a:avLst/>
          </a:prstGeom>
        </p:spPr>
      </p:pic>
      <p:sp>
        <p:nvSpPr>
          <p:cNvPr id="101" name="Text 4">
            <a:extLst>
              <a:ext uri="{FF2B5EF4-FFF2-40B4-BE49-F238E27FC236}">
                <a16:creationId xmlns:a16="http://schemas.microsoft.com/office/drawing/2014/main" id="{76CD3557-20D8-CC24-014D-AE5803C60A1B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PROTOTYPE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14793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16995" y="222250"/>
            <a:ext cx="6852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PERFORMANCE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WRMSSE 0.74 </a:t>
            </a: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28-day holdout. Clear path to top-decile.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Forecasting Competition · Kaggle / Walmart · 5.8 million row feature matrix.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40286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62000" y="37365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MODEL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762000" y="4685903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895350" y="4358878"/>
            <a:ext cx="3893058" cy="231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1275"/>
          </a:p>
        </p:txBody>
      </p:sp>
      <p:sp>
        <p:nvSpPr>
          <p:cNvPr id="15" name="Shape 13"/>
          <p:cNvSpPr/>
          <p:nvPr/>
        </p:nvSpPr>
        <p:spPr>
          <a:xfrm>
            <a:off x="4800600" y="4685903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4933950" y="4358878"/>
            <a:ext cx="3893058" cy="231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CA_1, CA_2, TX_1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762000" y="5155803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895350" y="4825603"/>
            <a:ext cx="389305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 · Days</a:t>
            </a:r>
            <a:endParaRPr lang="en-US" sz="1275"/>
          </a:p>
        </p:txBody>
      </p:sp>
      <p:sp>
        <p:nvSpPr>
          <p:cNvPr id="19" name="Shape 17"/>
          <p:cNvSpPr/>
          <p:nvPr/>
        </p:nvSpPr>
        <p:spPr>
          <a:xfrm>
            <a:off x="4800600" y="5155803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933950" y="4825603"/>
            <a:ext cx="389305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42,840 </a:t>
            </a: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</a:t>
            </a: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1,941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62000" y="5625704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895350" y="5295504"/>
            <a:ext cx="389305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</a:t>
            </a:r>
            <a:endParaRPr lang="en-US" sz="1275"/>
          </a:p>
        </p:txBody>
      </p:sp>
      <p:sp>
        <p:nvSpPr>
          <p:cNvPr id="23" name="Shape 21"/>
          <p:cNvSpPr/>
          <p:nvPr/>
        </p:nvSpPr>
        <p:spPr>
          <a:xfrm>
            <a:off x="4800600" y="5625704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4933950" y="5295504"/>
            <a:ext cx="389305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5.8M </a:t>
            </a: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× </a:t>
            </a: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</a:t>
            </a: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762000" y="6082903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895350" y="5765403"/>
            <a:ext cx="389305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75"/>
          </a:p>
        </p:txBody>
      </p:sp>
      <p:sp>
        <p:nvSpPr>
          <p:cNvPr id="27" name="Shape 25"/>
          <p:cNvSpPr/>
          <p:nvPr/>
        </p:nvSpPr>
        <p:spPr>
          <a:xfrm>
            <a:off x="4800600" y="6082903"/>
            <a:ext cx="40386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933950" y="5765403"/>
            <a:ext cx="389305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· per-store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762000" y="661312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762000" y="632102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PER-STORE WRMSSE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762000" y="6809979"/>
            <a:ext cx="4053483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762000" y="7156054"/>
            <a:ext cx="4053483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895350" y="6924279"/>
            <a:ext cx="3908387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825"/>
          </a:p>
        </p:txBody>
      </p:sp>
      <p:sp>
        <p:nvSpPr>
          <p:cNvPr id="34" name="Shape 32"/>
          <p:cNvSpPr/>
          <p:nvPr/>
        </p:nvSpPr>
        <p:spPr>
          <a:xfrm>
            <a:off x="2975613" y="6809979"/>
            <a:ext cx="2498412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5" name="Shape 33"/>
          <p:cNvSpPr/>
          <p:nvPr/>
        </p:nvSpPr>
        <p:spPr>
          <a:xfrm>
            <a:off x="2975613" y="7156054"/>
            <a:ext cx="2498412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2960581" y="6924279"/>
            <a:ext cx="2407765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WRMSSE</a:t>
            </a:r>
            <a:endParaRPr lang="en-US" sz="825"/>
          </a:p>
        </p:txBody>
      </p:sp>
      <p:sp>
        <p:nvSpPr>
          <p:cNvPr id="37" name="Shape 35"/>
          <p:cNvSpPr/>
          <p:nvPr/>
        </p:nvSpPr>
        <p:spPr>
          <a:xfrm>
            <a:off x="762000" y="7632303"/>
            <a:ext cx="405348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895350" y="7308453"/>
            <a:ext cx="39083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CA_1</a:t>
            </a:r>
            <a:endParaRPr lang="en-US" sz="1275"/>
          </a:p>
        </p:txBody>
      </p:sp>
      <p:sp>
        <p:nvSpPr>
          <p:cNvPr id="39" name="Shape 37"/>
          <p:cNvSpPr/>
          <p:nvPr/>
        </p:nvSpPr>
        <p:spPr>
          <a:xfrm>
            <a:off x="2951515" y="7632303"/>
            <a:ext cx="2494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2960581" y="7308453"/>
            <a:ext cx="24077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0.7425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762000" y="8089504"/>
            <a:ext cx="405348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895350" y="7772004"/>
            <a:ext cx="390838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CA_2</a:t>
            </a:r>
            <a:endParaRPr lang="en-US" sz="1275"/>
          </a:p>
        </p:txBody>
      </p:sp>
      <p:sp>
        <p:nvSpPr>
          <p:cNvPr id="43" name="Shape 41"/>
          <p:cNvSpPr/>
          <p:nvPr/>
        </p:nvSpPr>
        <p:spPr>
          <a:xfrm>
            <a:off x="2951515" y="8089504"/>
            <a:ext cx="2494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/>
          <p:nvPr/>
        </p:nvSpPr>
        <p:spPr>
          <a:xfrm>
            <a:off x="2960581" y="7772004"/>
            <a:ext cx="240776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0.7259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762000" y="8546704"/>
            <a:ext cx="405348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/>
          <p:nvPr/>
        </p:nvSpPr>
        <p:spPr>
          <a:xfrm>
            <a:off x="895350" y="8229204"/>
            <a:ext cx="390838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TX_1</a:t>
            </a:r>
            <a:endParaRPr lang="en-US" sz="1275"/>
          </a:p>
        </p:txBody>
      </p:sp>
      <p:sp>
        <p:nvSpPr>
          <p:cNvPr id="47" name="Shape 45"/>
          <p:cNvSpPr/>
          <p:nvPr/>
        </p:nvSpPr>
        <p:spPr>
          <a:xfrm>
            <a:off x="2951515" y="8546704"/>
            <a:ext cx="2494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8" name="Text 46"/>
          <p:cNvSpPr/>
          <p:nvPr/>
        </p:nvSpPr>
        <p:spPr>
          <a:xfrm>
            <a:off x="2960581" y="8229204"/>
            <a:ext cx="240776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0.7615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762000" y="8553054"/>
            <a:ext cx="4053483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0" name="Shape 48"/>
          <p:cNvSpPr/>
          <p:nvPr/>
        </p:nvSpPr>
        <p:spPr>
          <a:xfrm>
            <a:off x="762000" y="9016604"/>
            <a:ext cx="405348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1" name="Text 49"/>
          <p:cNvSpPr/>
          <p:nvPr/>
        </p:nvSpPr>
        <p:spPr>
          <a:xfrm>
            <a:off x="895350" y="8686404"/>
            <a:ext cx="390838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275"/>
          </a:p>
        </p:txBody>
      </p:sp>
      <p:sp>
        <p:nvSpPr>
          <p:cNvPr id="52" name="Shape 50"/>
          <p:cNvSpPr/>
          <p:nvPr/>
        </p:nvSpPr>
        <p:spPr>
          <a:xfrm>
            <a:off x="2975613" y="8553054"/>
            <a:ext cx="2498412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3" name="Shape 51"/>
          <p:cNvSpPr/>
          <p:nvPr/>
        </p:nvSpPr>
        <p:spPr>
          <a:xfrm>
            <a:off x="2951515" y="9016604"/>
            <a:ext cx="2494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4" name="Text 52"/>
          <p:cNvSpPr/>
          <p:nvPr/>
        </p:nvSpPr>
        <p:spPr>
          <a:xfrm>
            <a:off x="2960581" y="8686404"/>
            <a:ext cx="240776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1200"/>
          </a:p>
        </p:txBody>
      </p:sp>
      <p:sp>
        <p:nvSpPr>
          <p:cNvPr id="55" name="Shape 53"/>
          <p:cNvSpPr/>
          <p:nvPr/>
        </p:nvSpPr>
        <p:spPr>
          <a:xfrm>
            <a:off x="9448800" y="40286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6" name="Text 54"/>
          <p:cNvSpPr/>
          <p:nvPr/>
        </p:nvSpPr>
        <p:spPr>
          <a:xfrm>
            <a:off x="9448800" y="37365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· M5 PUBLIC LEADERBOARD</a:t>
            </a:r>
            <a:endParaRPr lang="en-US" sz="1050"/>
          </a:p>
        </p:txBody>
      </p:sp>
      <p:sp>
        <p:nvSpPr>
          <p:cNvPr id="59" name="Text 56"/>
          <p:cNvSpPr/>
          <p:nvPr/>
        </p:nvSpPr>
        <p:spPr>
          <a:xfrm>
            <a:off x="9448800" y="8388193"/>
            <a:ext cx="8319516" cy="258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top-decile: </a:t>
            </a:r>
            <a:r>
              <a:rPr lang="en-US" sz="112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lag windows (7d/14d/56d/84d) · leaf-count tuning · SNAP-aware feature crosses.</a:t>
            </a:r>
            <a:endParaRPr lang="en-US" sz="1125"/>
          </a:p>
        </p:txBody>
      </p:sp>
      <p:sp>
        <p:nvSpPr>
          <p:cNvPr id="60" name="Shape 57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1" name="Text 58"/>
          <p:cNvSpPr/>
          <p:nvPr/>
        </p:nvSpPr>
        <p:spPr>
          <a:xfrm>
            <a:off x="762000" y="9950451"/>
            <a:ext cx="442689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M5 Forecasting Competition · Kaggle 2020 · public leaderboard</a:t>
            </a:r>
            <a:endParaRPr lang="en-US" sz="975"/>
          </a:p>
        </p:txBody>
      </p:sp>
      <p:sp>
        <p:nvSpPr>
          <p:cNvPr id="62" name="Text 59"/>
          <p:cNvSpPr/>
          <p:nvPr/>
        </p:nvSpPr>
        <p:spPr>
          <a:xfrm>
            <a:off x="17364571" y="9950451"/>
            <a:ext cx="23762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cs typeface="Arial" pitchFamily="34" charset="-120"/>
              </a:rPr>
              <a:t>06</a:t>
            </a:r>
            <a:endParaRPr lang="en-US" sz="975"/>
          </a:p>
        </p:txBody>
      </p:sp>
      <p:pic>
        <p:nvPicPr>
          <p:cNvPr id="65" name="Picture 33">
            <a:extLst>
              <a:ext uri="{FF2B5EF4-FFF2-40B4-BE49-F238E27FC236}">
                <a16:creationId xmlns:a16="http://schemas.microsoft.com/office/drawing/2014/main" id="{721C1951-F46E-59B4-E844-622E47E16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4A00C9EE-2FE2-4A7F-D301-32BCEA6E8E14}"/>
              </a:ext>
            </a:extLst>
          </p:cNvPr>
          <p:cNvSpPr/>
          <p:nvPr/>
        </p:nvSpPr>
        <p:spPr>
          <a:xfrm>
            <a:off x="6124818" y="7435085"/>
            <a:ext cx="2714382" cy="983794"/>
          </a:xfrm>
          <a:prstGeom prst="rect">
            <a:avLst/>
          </a:prstGeom>
          <a:noFill/>
          <a:ln w="19050">
            <a:solidFill>
              <a:srgbClr val="1A73E8"/>
            </a:solidFill>
            <a:prstDash val="dash"/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1600" kern="0" spc="-6" noProof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Per-store models, consistent results: the </a:t>
            </a:r>
            <a:r>
              <a:rPr lang="en-US" sz="1600" b="1" kern="0" spc="-6" noProof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pipeline scales to any store</a:t>
            </a:r>
            <a:r>
              <a:rPr lang="en-US" sz="1600" kern="0" spc="-6" noProof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 on day one</a:t>
            </a:r>
          </a:p>
        </p:txBody>
      </p:sp>
      <p:sp>
        <p:nvSpPr>
          <p:cNvPr id="71" name="Geschweifte Klammer rechts 70">
            <a:extLst>
              <a:ext uri="{FF2B5EF4-FFF2-40B4-BE49-F238E27FC236}">
                <a16:creationId xmlns:a16="http://schemas.microsoft.com/office/drawing/2014/main" id="{39C8B98D-4558-0193-C2C6-7DB7D3E2FD44}"/>
              </a:ext>
            </a:extLst>
          </p:cNvPr>
          <p:cNvSpPr/>
          <p:nvPr/>
        </p:nvSpPr>
        <p:spPr>
          <a:xfrm>
            <a:off x="5556147" y="6913260"/>
            <a:ext cx="433991" cy="2078339"/>
          </a:xfrm>
          <a:prstGeom prst="rightBrace">
            <a:avLst/>
          </a:prstGeom>
          <a:noFill/>
          <a:ln w="28575">
            <a:solidFill>
              <a:srgbClr val="1A73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2" name="Grafik 71">
            <a:extLst>
              <a:ext uri="{FF2B5EF4-FFF2-40B4-BE49-F238E27FC236}">
                <a16:creationId xmlns:a16="http://schemas.microsoft.com/office/drawing/2014/main" id="{99D65FDB-0147-9A82-8F46-6CCD7FBCC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994" y="4301862"/>
            <a:ext cx="7772400" cy="4048873"/>
          </a:xfrm>
          <a:prstGeom prst="rect">
            <a:avLst/>
          </a:prstGeom>
        </p:spPr>
      </p:pic>
      <p:sp>
        <p:nvSpPr>
          <p:cNvPr id="75" name="Text 4">
            <a:extLst>
              <a:ext uri="{FF2B5EF4-FFF2-40B4-BE49-F238E27FC236}">
                <a16:creationId xmlns:a16="http://schemas.microsoft.com/office/drawing/2014/main" id="{E1E42282-B77F-3E15-2589-19CC7B7CD8CB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PERFORMANCE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6213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51425" y="222250"/>
            <a:ext cx="65077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GUARD DEEP DIVE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layers, both deterministic.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LLM call. Auditable, fast, free.</a:t>
            </a:r>
            <a:endParaRPr lang="en-US" sz="4200"/>
          </a:p>
        </p:txBody>
      </p:sp>
      <p:sp>
        <p:nvSpPr>
          <p:cNvPr id="10" name="Shape 8"/>
          <p:cNvSpPr/>
          <p:nvPr/>
        </p:nvSpPr>
        <p:spPr>
          <a:xfrm>
            <a:off x="762000" y="34571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62000" y="3132499"/>
            <a:ext cx="8319516" cy="26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>
                <a:latin typeface="Arial" pitchFamily="34" charset="0"/>
                <a:ea typeface="Arial" pitchFamily="34" charset="-122"/>
                <a:cs typeface="Arial" pitchFamily="34" charset="-120"/>
              </a:rPr>
              <a:t>LAYER 1 </a:t>
            </a:r>
            <a:r>
              <a:rPr lang="en-US" sz="12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INTENT CHECK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62000" y="4142284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762000" y="3717037"/>
            <a:ext cx="3429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181100" y="3697987"/>
            <a:ext cx="6587305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retail action phrases </a:t>
            </a:r>
            <a:r>
              <a:rPr lang="en-US" sz="13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markdown / restock / promote vocabulary, calibrated.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762000" y="463688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762000" y="4211643"/>
            <a:ext cx="3429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181100" y="4202118"/>
            <a:ext cx="5793146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substring matching </a:t>
            </a:r>
            <a:r>
              <a:rPr lang="en-US" sz="13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zero inference latency.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62000" y="4706249"/>
            <a:ext cx="3429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1181100" y="4706249"/>
            <a:ext cx="7887843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 second LLM call? </a:t>
            </a:r>
            <a:r>
              <a:rPr lang="en-US" sz="13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cost, drift, opacity. We need a verdict we can ship to compliance.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762000" y="5981700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762000" y="5657021"/>
            <a:ext cx="8319516" cy="26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>
                <a:latin typeface="Arial" pitchFamily="34" charset="0"/>
                <a:ea typeface="Arial" pitchFamily="34" charset="-122"/>
                <a:cs typeface="Arial" pitchFamily="34" charset="-120"/>
              </a:rPr>
              <a:t>LAYER 2 </a:t>
            </a: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NUMERIC CHECK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762000" y="6666806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762000" y="6225439"/>
            <a:ext cx="3429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1181100" y="6225439"/>
            <a:ext cx="4948195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extraction </a:t>
            </a:r>
            <a:r>
              <a:rPr lang="en-US" sz="13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every numeric value in the LLM output.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762000" y="7291622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762000" y="6785151"/>
            <a:ext cx="3429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1181100" y="6785151"/>
            <a:ext cx="7887843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tolerance band </a:t>
            </a:r>
            <a:r>
              <a:rPr lang="en-US" sz="13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source forecast: catches fabricated precision while allowing rounding.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762000" y="7344862"/>
            <a:ext cx="3429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1181100" y="7344862"/>
            <a:ext cx="7802715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value must round-trip </a:t>
            </a:r>
            <a:r>
              <a:rPr lang="en-US" sz="13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LLM cannot invent a number not present in the source forecast.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9448800" y="34571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9448800" y="31650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9448800" y="3654028"/>
            <a:ext cx="8077200" cy="4293394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9645650" y="3850878"/>
            <a:ext cx="791400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source forecast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9645650" y="4153694"/>
            <a:ext cx="791400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delta_pct = +419.6%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9645650" y="4532709"/>
            <a:ext cx="791400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case A · LLM output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9645650" y="4759325"/>
            <a:ext cx="791400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"Forecast </a:t>
            </a:r>
            <a:r>
              <a:rPr lang="en-US" sz="1050" b="1" kern="0" spc="-6">
                <a:solidFill>
                  <a:srgbClr val="0F8B5C"/>
                </a:solidFill>
                <a:highlight>
                  <a:srgbClr val="E6F4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+419.6% </a:t>
            </a: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baseline. Recommend immediate replenishment."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9645650" y="5100241"/>
            <a:ext cx="811113" cy="27047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9740900" y="5138341"/>
            <a:ext cx="696813" cy="23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54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✓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10493078" y="5100241"/>
            <a:ext cx="886520" cy="27047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10588328" y="5138341"/>
            <a:ext cx="772220" cy="23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54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✓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11415911" y="5100241"/>
            <a:ext cx="1246684" cy="27047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11511161" y="5138341"/>
            <a:ext cx="1132384" cy="23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54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· PASS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9645650" y="5599311"/>
            <a:ext cx="791400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case B · LLM output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9645650" y="5825927"/>
            <a:ext cx="7914005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"Forecast </a:t>
            </a:r>
            <a:r>
              <a:rPr lang="en-US" sz="1050" b="1" kern="0" spc="-6">
                <a:solidFill>
                  <a:srgbClr val="C0392B"/>
                </a:solidFill>
                <a:highlight>
                  <a:srgbClr val="FBEAE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+200% </a:t>
            </a: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baseline. Recommend immediate replenishment."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9645650" y="6166842"/>
            <a:ext cx="811113" cy="27047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/>
          <p:nvPr/>
        </p:nvSpPr>
        <p:spPr>
          <a:xfrm>
            <a:off x="9740900" y="6204942"/>
            <a:ext cx="696813" cy="23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54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✓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10493078" y="6166842"/>
            <a:ext cx="894259" cy="270470"/>
          </a:xfrm>
          <a:prstGeom prst="rect">
            <a:avLst/>
          </a:prstGeom>
          <a:solidFill>
            <a:srgbClr val="FBEAE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8" name="Text 46"/>
          <p:cNvSpPr/>
          <p:nvPr/>
        </p:nvSpPr>
        <p:spPr>
          <a:xfrm>
            <a:off x="10588328" y="6204942"/>
            <a:ext cx="779959" cy="23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54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✗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11423650" y="6166842"/>
            <a:ext cx="1246684" cy="270470"/>
          </a:xfrm>
          <a:prstGeom prst="rect">
            <a:avLst/>
          </a:prstGeom>
          <a:solidFill>
            <a:srgbClr val="FBEAE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0" name="Text 48"/>
          <p:cNvSpPr/>
          <p:nvPr/>
        </p:nvSpPr>
        <p:spPr>
          <a:xfrm>
            <a:off x="11518900" y="6204942"/>
            <a:ext cx="1132384" cy="232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54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· FAIL</a:t>
            </a:r>
            <a:endParaRPr lang="en-US" sz="900"/>
          </a:p>
        </p:txBody>
      </p:sp>
      <p:sp>
        <p:nvSpPr>
          <p:cNvPr id="51" name="Text 49"/>
          <p:cNvSpPr/>
          <p:nvPr/>
        </p:nvSpPr>
        <p:spPr>
          <a:xfrm>
            <a:off x="9645650" y="6589713"/>
            <a:ext cx="79140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is outside the 2× band of 419.6 (low=210, high=839). Card is dropped from the briefing and logged for prompt review.</a:t>
            </a:r>
            <a:endParaRPr lang="en-US" sz="975"/>
          </a:p>
        </p:txBody>
      </p:sp>
      <p:sp>
        <p:nvSpPr>
          <p:cNvPr id="52" name="Shape 5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3" name="Text 51"/>
          <p:cNvSpPr/>
          <p:nvPr/>
        </p:nvSpPr>
        <p:spPr>
          <a:xfrm>
            <a:off x="762000" y="9950451"/>
            <a:ext cx="281302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guard_v1.py · 54 phrases · 2× tolerance band</a:t>
            </a:r>
            <a:endParaRPr lang="en-US" sz="975"/>
          </a:p>
        </p:txBody>
      </p:sp>
      <p:sp>
        <p:nvSpPr>
          <p:cNvPr id="54" name="Text 52"/>
          <p:cNvSpPr/>
          <p:nvPr/>
        </p:nvSpPr>
        <p:spPr>
          <a:xfrm>
            <a:off x="17364571" y="9950451"/>
            <a:ext cx="23762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cs typeface="Arial" pitchFamily="34" charset="-120"/>
              </a:rPr>
              <a:t>07</a:t>
            </a:r>
            <a:endParaRPr lang="en-US" sz="975"/>
          </a:p>
        </p:txBody>
      </p:sp>
      <p:pic>
        <p:nvPicPr>
          <p:cNvPr id="56" name="Picture 33">
            <a:extLst>
              <a:ext uri="{FF2B5EF4-FFF2-40B4-BE49-F238E27FC236}">
                <a16:creationId xmlns:a16="http://schemas.microsoft.com/office/drawing/2014/main" id="{F9FE3B24-0426-0B6D-CE0C-9707C3915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59" name="Text 4">
            <a:extLst>
              <a:ext uri="{FF2B5EF4-FFF2-40B4-BE49-F238E27FC236}">
                <a16:creationId xmlns:a16="http://schemas.microsoft.com/office/drawing/2014/main" id="{2D92EDAE-AA64-C941-05C6-43540EBA787B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GUARD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1707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64819" y="222249"/>
            <a:ext cx="10641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€1.1B European TAM </a:t>
            </a: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sitting between tools too cheap and suites too expensive.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 chains × 150 stores avg. × €300/store/month = €1.1B addressable in Europe alone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4028678"/>
            <a:ext cx="6731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62000" y="3736578"/>
            <a:ext cx="69329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762000" y="4768453"/>
            <a:ext cx="37020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895350" y="4358878"/>
            <a:ext cx="35464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chains in target band</a:t>
            </a:r>
            <a:endParaRPr lang="en-US" sz="1275"/>
          </a:p>
        </p:txBody>
      </p:sp>
      <p:sp>
        <p:nvSpPr>
          <p:cNvPr id="15" name="Shape 13"/>
          <p:cNvSpPr/>
          <p:nvPr/>
        </p:nvSpPr>
        <p:spPr>
          <a:xfrm>
            <a:off x="4464050" y="4768453"/>
            <a:ext cx="30289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4597400" y="4358878"/>
            <a:ext cx="28531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</a:t>
            </a:r>
            <a:endParaRPr lang="en-US" sz="1650"/>
          </a:p>
        </p:txBody>
      </p:sp>
      <p:sp>
        <p:nvSpPr>
          <p:cNvPr id="17" name="Shape 15"/>
          <p:cNvSpPr/>
          <p:nvPr/>
        </p:nvSpPr>
        <p:spPr>
          <a:xfrm>
            <a:off x="762000" y="5320903"/>
            <a:ext cx="37020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895350" y="4908153"/>
            <a:ext cx="354641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stores per chain</a:t>
            </a:r>
            <a:endParaRPr lang="en-US" sz="1275"/>
          </a:p>
        </p:txBody>
      </p:sp>
      <p:sp>
        <p:nvSpPr>
          <p:cNvPr id="19" name="Shape 17"/>
          <p:cNvSpPr/>
          <p:nvPr/>
        </p:nvSpPr>
        <p:spPr>
          <a:xfrm>
            <a:off x="4464050" y="5320903"/>
            <a:ext cx="30289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597400" y="4908153"/>
            <a:ext cx="285311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650"/>
          </a:p>
        </p:txBody>
      </p:sp>
      <p:sp>
        <p:nvSpPr>
          <p:cNvPr id="21" name="Shape 19"/>
          <p:cNvSpPr/>
          <p:nvPr/>
        </p:nvSpPr>
        <p:spPr>
          <a:xfrm>
            <a:off x="762000" y="5873353"/>
            <a:ext cx="37020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895350" y="5460603"/>
            <a:ext cx="354641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store / month</a:t>
            </a:r>
            <a:endParaRPr lang="en-US" sz="1275"/>
          </a:p>
        </p:txBody>
      </p:sp>
      <p:sp>
        <p:nvSpPr>
          <p:cNvPr id="23" name="Shape 21"/>
          <p:cNvSpPr/>
          <p:nvPr/>
        </p:nvSpPr>
        <p:spPr>
          <a:xfrm>
            <a:off x="4464050" y="5873353"/>
            <a:ext cx="30289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4597400" y="5460603"/>
            <a:ext cx="285311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1650"/>
          </a:p>
        </p:txBody>
      </p:sp>
      <p:sp>
        <p:nvSpPr>
          <p:cNvPr id="25" name="Shape 23"/>
          <p:cNvSpPr/>
          <p:nvPr/>
        </p:nvSpPr>
        <p:spPr>
          <a:xfrm>
            <a:off x="762000" y="5879703"/>
            <a:ext cx="3702050" cy="6032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762000" y="6476603"/>
            <a:ext cx="37020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895350" y="6013053"/>
            <a:ext cx="354641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TAM (ARR)</a:t>
            </a:r>
            <a:endParaRPr lang="en-US" sz="1275"/>
          </a:p>
        </p:txBody>
      </p:sp>
      <p:sp>
        <p:nvSpPr>
          <p:cNvPr id="28" name="Shape 26"/>
          <p:cNvSpPr/>
          <p:nvPr/>
        </p:nvSpPr>
        <p:spPr>
          <a:xfrm>
            <a:off x="4464050" y="5879703"/>
            <a:ext cx="3028950" cy="6032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Shape 27"/>
          <p:cNvSpPr/>
          <p:nvPr/>
        </p:nvSpPr>
        <p:spPr>
          <a:xfrm>
            <a:off x="4464050" y="6476603"/>
            <a:ext cx="30289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4597400" y="6013053"/>
            <a:ext cx="285311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€1.1B</a:t>
            </a:r>
            <a:endParaRPr lang="en-US" sz="1950"/>
          </a:p>
        </p:txBody>
      </p:sp>
      <p:sp>
        <p:nvSpPr>
          <p:cNvPr id="31" name="Shape 29"/>
          <p:cNvSpPr/>
          <p:nvPr/>
        </p:nvSpPr>
        <p:spPr>
          <a:xfrm>
            <a:off x="762000" y="6882762"/>
            <a:ext cx="6731000" cy="151116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1073150" y="7102078"/>
            <a:ext cx="62919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kern="0" spc="13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PROFILE</a:t>
            </a:r>
            <a:endParaRPr lang="en-US" sz="975"/>
          </a:p>
        </p:txBody>
      </p:sp>
      <p:sp>
        <p:nvSpPr>
          <p:cNvPr id="33" name="Text 31"/>
          <p:cNvSpPr/>
          <p:nvPr/>
        </p:nvSpPr>
        <p:spPr>
          <a:xfrm>
            <a:off x="1073150" y="7387828"/>
            <a:ext cx="6291961" cy="114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50–500 stores </a:t>
            </a:r>
            <a:r>
              <a:rPr lang="en-US" sz="13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€100M – €2B revenue DACH · Benelux · Iberia Apparel, footwear, sporting goods, home, grocery Decision makers: CMO, Head of Buying</a:t>
            </a:r>
            <a:endParaRPr lang="en-US" sz="1350"/>
          </a:p>
        </p:txBody>
      </p:sp>
      <p:sp>
        <p:nvSpPr>
          <p:cNvPr id="34" name="Shape 32"/>
          <p:cNvSpPr/>
          <p:nvPr/>
        </p:nvSpPr>
        <p:spPr>
          <a:xfrm>
            <a:off x="8102600" y="4028678"/>
            <a:ext cx="94234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5" name="Text 33"/>
          <p:cNvSpPr/>
          <p:nvPr/>
        </p:nvSpPr>
        <p:spPr>
          <a:xfrm>
            <a:off x="8102600" y="3736578"/>
            <a:ext cx="97061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· PRICE × COMPLEXITY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8102600" y="4120018"/>
            <a:ext cx="9423400" cy="5464572"/>
          </a:xfrm>
          <a:prstGeom prst="rect">
            <a:avLst/>
          </a:prstGeom>
          <a:solidFill>
            <a:srgbClr val="F7F7F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Shape 35"/>
          <p:cNvSpPr/>
          <p:nvPr/>
        </p:nvSpPr>
        <p:spPr>
          <a:xfrm>
            <a:off x="8108950" y="9270510"/>
            <a:ext cx="941070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Shape 36"/>
          <p:cNvSpPr/>
          <p:nvPr/>
        </p:nvSpPr>
        <p:spPr>
          <a:xfrm>
            <a:off x="8680450" y="4733038"/>
            <a:ext cx="19050" cy="4556522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 rot="-5400000">
            <a:off x="7886700" y="6573358"/>
            <a:ext cx="1104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→</a:t>
            </a:r>
            <a:endParaRPr lang="en-US" sz="825"/>
          </a:p>
        </p:txBody>
      </p:sp>
      <p:sp>
        <p:nvSpPr>
          <p:cNvPr id="40" name="Text 38"/>
          <p:cNvSpPr/>
          <p:nvPr/>
        </p:nvSpPr>
        <p:spPr>
          <a:xfrm>
            <a:off x="13024682" y="9331569"/>
            <a:ext cx="63033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32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→</a:t>
            </a:r>
            <a:endParaRPr lang="en-US" sz="825"/>
          </a:p>
        </p:txBody>
      </p:sp>
      <p:sp>
        <p:nvSpPr>
          <p:cNvPr id="43" name="Shape 41"/>
          <p:cNvSpPr/>
          <p:nvPr/>
        </p:nvSpPr>
        <p:spPr>
          <a:xfrm>
            <a:off x="9736138" y="8229606"/>
            <a:ext cx="133350" cy="133350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/>
          <p:nvPr/>
        </p:nvSpPr>
        <p:spPr>
          <a:xfrm>
            <a:off x="9474597" y="8439156"/>
            <a:ext cx="7325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BI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9424889" y="8597906"/>
            <a:ext cx="83204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11335892" y="6747774"/>
            <a:ext cx="133350" cy="133350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7" name="Text 45"/>
          <p:cNvSpPr/>
          <p:nvPr/>
        </p:nvSpPr>
        <p:spPr>
          <a:xfrm>
            <a:off x="11224766" y="6957324"/>
            <a:ext cx="431899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Daisy</a:t>
            </a:r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11033075" y="7116074"/>
            <a:ext cx="81528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50"/>
          </a:p>
        </p:txBody>
      </p:sp>
      <p:sp>
        <p:nvSpPr>
          <p:cNvPr id="49" name="Shape 47"/>
          <p:cNvSpPr/>
          <p:nvPr/>
        </p:nvSpPr>
        <p:spPr>
          <a:xfrm>
            <a:off x="11994754" y="6143135"/>
            <a:ext cx="133350" cy="133350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0" name="Text 48"/>
          <p:cNvSpPr/>
          <p:nvPr/>
        </p:nvSpPr>
        <p:spPr>
          <a:xfrm>
            <a:off x="11839377" y="6352685"/>
            <a:ext cx="52030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Nextail</a:t>
            </a:r>
            <a:endParaRPr lang="en-US" sz="1050"/>
          </a:p>
        </p:txBody>
      </p:sp>
      <p:sp>
        <p:nvSpPr>
          <p:cNvPr id="51" name="Shape 49"/>
          <p:cNvSpPr/>
          <p:nvPr/>
        </p:nvSpPr>
        <p:spPr>
          <a:xfrm>
            <a:off x="14159161" y="5573223"/>
            <a:ext cx="133350" cy="133350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2" name="Text 50"/>
          <p:cNvSpPr/>
          <p:nvPr/>
        </p:nvSpPr>
        <p:spPr>
          <a:xfrm>
            <a:off x="13857636" y="5782773"/>
            <a:ext cx="812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ToolsGroup</a:t>
            </a:r>
            <a:endParaRPr lang="en-US" sz="1050"/>
          </a:p>
        </p:txBody>
      </p:sp>
      <p:sp>
        <p:nvSpPr>
          <p:cNvPr id="53" name="Shape 51"/>
          <p:cNvSpPr/>
          <p:nvPr/>
        </p:nvSpPr>
        <p:spPr>
          <a:xfrm>
            <a:off x="15759014" y="4775306"/>
            <a:ext cx="133350" cy="133350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4" name="Text 52"/>
          <p:cNvSpPr/>
          <p:nvPr/>
        </p:nvSpPr>
        <p:spPr>
          <a:xfrm>
            <a:off x="15441513" y="4984856"/>
            <a:ext cx="844551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Yonder</a:t>
            </a:r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16323618" y="5231215"/>
            <a:ext cx="133350" cy="133350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6" name="Text 54"/>
          <p:cNvSpPr/>
          <p:nvPr/>
        </p:nvSpPr>
        <p:spPr>
          <a:xfrm>
            <a:off x="16216759" y="5440765"/>
            <a:ext cx="42336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Relex</a:t>
            </a:r>
            <a:endParaRPr lang="en-US" sz="1050"/>
          </a:p>
        </p:txBody>
      </p:sp>
      <p:sp>
        <p:nvSpPr>
          <p:cNvPr id="57" name="Shape 55"/>
          <p:cNvSpPr/>
          <p:nvPr/>
        </p:nvSpPr>
        <p:spPr>
          <a:xfrm>
            <a:off x="12427100" y="7228787"/>
            <a:ext cx="209550" cy="209550"/>
          </a:xfrm>
          <a:prstGeom prst="ellipse">
            <a:avLst/>
          </a:prstGeom>
          <a:solidFill>
            <a:srgbClr val="1A73E8"/>
          </a:solidFill>
          <a:ln/>
          <a:effectLst>
            <a:outerShdw blurRad="101600" dist="50800" dir="16200000" algn="bl" rotWithShape="0">
              <a:srgbClr val="1A73E8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8" name="Text 56"/>
          <p:cNvSpPr/>
          <p:nvPr/>
        </p:nvSpPr>
        <p:spPr>
          <a:xfrm>
            <a:off x="12178953" y="7514537"/>
            <a:ext cx="7821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</a:t>
            </a:r>
            <a:endParaRPr lang="en-US" sz="1350"/>
          </a:p>
        </p:txBody>
      </p:sp>
      <p:sp>
        <p:nvSpPr>
          <p:cNvPr id="59" name="Text 57"/>
          <p:cNvSpPr/>
          <p:nvPr/>
        </p:nvSpPr>
        <p:spPr>
          <a:xfrm>
            <a:off x="12065943" y="7781237"/>
            <a:ext cx="931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9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</a:t>
            </a:r>
            <a:endParaRPr lang="en-US" sz="900"/>
          </a:p>
        </p:txBody>
      </p:sp>
      <p:sp>
        <p:nvSpPr>
          <p:cNvPr id="60" name="Shape 5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1" name="Text 59"/>
          <p:cNvSpPr/>
          <p:nvPr/>
        </p:nvSpPr>
        <p:spPr>
          <a:xfrm>
            <a:off x="762000" y="9950451"/>
            <a:ext cx="533899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 Retail AI 2024; Statista European retail chains; bottom-up estimate</a:t>
            </a:r>
            <a:endParaRPr lang="en-US" sz="975"/>
          </a:p>
        </p:txBody>
      </p:sp>
      <p:sp>
        <p:nvSpPr>
          <p:cNvPr id="62" name="Text 60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cs typeface="Arial" pitchFamily="34" charset="-120"/>
              </a:rPr>
              <a:t>08</a:t>
            </a:r>
            <a:endParaRPr lang="en-US" sz="975"/>
          </a:p>
        </p:txBody>
      </p:sp>
      <p:pic>
        <p:nvPicPr>
          <p:cNvPr id="41" name="Picture 33">
            <a:extLst>
              <a:ext uri="{FF2B5EF4-FFF2-40B4-BE49-F238E27FC236}">
                <a16:creationId xmlns:a16="http://schemas.microsoft.com/office/drawing/2014/main" id="{29A5C0CB-EA86-3E0F-B66F-4AD14651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42" name="Text 4">
            <a:extLst>
              <a:ext uri="{FF2B5EF4-FFF2-40B4-BE49-F238E27FC236}">
                <a16:creationId xmlns:a16="http://schemas.microsoft.com/office/drawing/2014/main" id="{EDC6D5E3-CE7D-F2CB-B364-609B0429CCBC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MARKET</a:t>
            </a:r>
            <a:endParaRPr lang="en-US" sz="12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HeaderCounter"/>
          <p:cNvSpPr/>
          <p:nvPr/>
        </p:nvSpPr>
        <p:spPr>
          <a:xfrm>
            <a:off x="16500000" y="222250"/>
            <a:ext cx="11000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200" b="1" kern="0" spc="147">
                <a:latin typeface="Arial" pitchFamily="34" charset="0"/>
                <a:ea typeface="Arial" pitchFamily="34" charset="-122"/>
                <a:cs typeface="Arial" pitchFamily="34" charset="0"/>
              </a:rPr>
              <a:t>09 / 13</a:t>
            </a:r>
            <a:endParaRPr lang="en-US" sz="1200" b="1"/>
          </a:p>
        </p:txBody>
      </p:sp>
      <p:sp>
        <p:nvSpPr>
          <p:cNvPr id="8" name="LeftLabel"/>
          <p:cNvSpPr/>
          <p:nvPr/>
        </p:nvSpPr>
        <p:spPr>
          <a:xfrm>
            <a:off x="762000" y="3500000"/>
            <a:ext cx="80000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UNIT ECONOMICS</a:t>
            </a:r>
            <a:endParaRPr lang="en-US" sz="1400"/>
          </a:p>
        </p:txBody>
      </p:sp>
      <p:sp>
        <p:nvSpPr>
          <p:cNvPr id="9" name="RightLabel"/>
          <p:cNvSpPr/>
          <p:nvPr/>
        </p:nvSpPr>
        <p:spPr>
          <a:xfrm>
            <a:off x="9300000" y="3500000"/>
            <a:ext cx="82260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REVENUE RAMP &amp; LTV / CAC</a:t>
            </a:r>
            <a:endParaRPr lang="en-US" sz="1400"/>
          </a:p>
        </p:txBody>
      </p:sp>
      <p:sp>
        <p:nvSpPr>
          <p:cNvPr id="10" name="LeftDiv"/>
          <p:cNvSpPr/>
          <p:nvPr/>
        </p:nvSpPr>
        <p:spPr>
          <a:xfrm>
            <a:off x="762000" y="3780000"/>
            <a:ext cx="8000000" cy="952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ightDiv"/>
          <p:cNvSpPr/>
          <p:nvPr/>
        </p:nvSpPr>
        <p:spPr>
          <a:xfrm>
            <a:off x="9300000" y="3780000"/>
            <a:ext cx="8226000" cy="9525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ile0"/>
          <p:cNvSpPr/>
          <p:nvPr/>
        </p:nvSpPr>
        <p:spPr>
          <a:xfrm>
            <a:off x="762000" y="3999999"/>
            <a:ext cx="2600000" cy="154616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lbl0"/>
          <p:cNvSpPr/>
          <p:nvPr/>
        </p:nvSpPr>
        <p:spPr>
          <a:xfrm>
            <a:off x="962000" y="4200000"/>
            <a:ext cx="23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PER BRIEFING</a:t>
            </a:r>
            <a:endParaRPr lang="en-US" sz="1200"/>
          </a:p>
        </p:txBody>
      </p:sp>
      <p:sp>
        <p:nvSpPr>
          <p:cNvPr id="14" name="tbig0"/>
          <p:cNvSpPr/>
          <p:nvPr/>
        </p:nvSpPr>
        <p:spPr>
          <a:xfrm>
            <a:off x="962000" y="4450000"/>
            <a:ext cx="2300000" cy="5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€0.05</a:t>
            </a:r>
            <a:endParaRPr lang="en-US">
              <a:solidFill>
                <a:srgbClr val="1A73E8"/>
              </a:solidFill>
            </a:endParaRPr>
          </a:p>
        </p:txBody>
      </p:sp>
      <p:sp>
        <p:nvSpPr>
          <p:cNvPr id="15" name="tsub0"/>
          <p:cNvSpPr/>
          <p:nvPr/>
        </p:nvSpPr>
        <p:spPr>
          <a:xfrm>
            <a:off x="962000" y="5080000"/>
            <a:ext cx="2300000" cy="2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1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9 calls </a:t>
            </a:r>
            <a:r>
              <a:rPr lang="en-US" sz="11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1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 804 input + 220 output tokens / call </a:t>
            </a:r>
            <a:r>
              <a:rPr lang="en-US" sz="11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1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 Claude sonnet 4.6</a:t>
            </a:r>
            <a:endParaRPr lang="en-US" sz="1100"/>
          </a:p>
        </p:txBody>
      </p:sp>
      <p:sp>
        <p:nvSpPr>
          <p:cNvPr id="16" name="tile1"/>
          <p:cNvSpPr/>
          <p:nvPr/>
        </p:nvSpPr>
        <p:spPr>
          <a:xfrm>
            <a:off x="3462000" y="3999999"/>
            <a:ext cx="2600000" cy="154616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lbl1"/>
          <p:cNvSpPr/>
          <p:nvPr/>
        </p:nvSpPr>
        <p:spPr>
          <a:xfrm>
            <a:off x="3662000" y="4200000"/>
            <a:ext cx="23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FULLY LOADED /STORE/MO</a:t>
            </a:r>
            <a:endParaRPr lang="en-US" sz="1000"/>
          </a:p>
        </p:txBody>
      </p:sp>
      <p:sp>
        <p:nvSpPr>
          <p:cNvPr id="18" name="tbig1"/>
          <p:cNvSpPr/>
          <p:nvPr/>
        </p:nvSpPr>
        <p:spPr>
          <a:xfrm>
            <a:off x="3662000" y="4450000"/>
            <a:ext cx="2300000" cy="5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€25</a:t>
            </a:r>
            <a:endParaRPr lang="en-US"/>
          </a:p>
        </p:txBody>
      </p:sp>
      <p:sp>
        <p:nvSpPr>
          <p:cNvPr id="19" name="tsub1"/>
          <p:cNvSpPr/>
          <p:nvPr/>
        </p:nvSpPr>
        <p:spPr>
          <a:xfrm>
            <a:off x="3626830" y="5080000"/>
            <a:ext cx="2300000" cy="2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LLM €1.42 + hosting/ChromaDB/ops ~€23.50</a:t>
            </a:r>
            <a:endParaRPr lang="en-US" sz="1100"/>
          </a:p>
        </p:txBody>
      </p:sp>
      <p:sp>
        <p:nvSpPr>
          <p:cNvPr id="20" name="tile2"/>
          <p:cNvSpPr/>
          <p:nvPr/>
        </p:nvSpPr>
        <p:spPr>
          <a:xfrm>
            <a:off x="6162000" y="3999999"/>
            <a:ext cx="2600000" cy="154616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lbl2"/>
          <p:cNvSpPr/>
          <p:nvPr/>
        </p:nvSpPr>
        <p:spPr>
          <a:xfrm>
            <a:off x="6362000" y="4200000"/>
            <a:ext cx="23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SELLING PRICE /STORE/MO</a:t>
            </a:r>
            <a:endParaRPr lang="en-US" sz="1000"/>
          </a:p>
        </p:txBody>
      </p:sp>
      <p:sp>
        <p:nvSpPr>
          <p:cNvPr id="22" name="tbig2"/>
          <p:cNvSpPr/>
          <p:nvPr/>
        </p:nvSpPr>
        <p:spPr>
          <a:xfrm>
            <a:off x="6362000" y="4450000"/>
            <a:ext cx="2300000" cy="5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€300</a:t>
            </a:r>
            <a:endParaRPr lang="en-US"/>
          </a:p>
        </p:txBody>
      </p:sp>
      <p:sp>
        <p:nvSpPr>
          <p:cNvPr id="23" name="tsub2"/>
          <p:cNvSpPr/>
          <p:nvPr/>
        </p:nvSpPr>
        <p:spPr>
          <a:xfrm>
            <a:off x="6362000" y="5080000"/>
            <a:ext cx="2300000" cy="2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Mid-market budget - no committee</a:t>
            </a:r>
            <a:endParaRPr lang="en-US" sz="1100"/>
          </a:p>
        </p:txBody>
      </p:sp>
      <p:sp>
        <p:nvSpPr>
          <p:cNvPr id="24" name="SumLine1"/>
          <p:cNvSpPr/>
          <p:nvPr/>
        </p:nvSpPr>
        <p:spPr>
          <a:xfrm>
            <a:off x="-8677500" y="7299512"/>
            <a:ext cx="800000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92% gross margin at €300 sticker </a:t>
            </a:r>
            <a:endParaRPr lang="en-US"/>
          </a:p>
        </p:txBody>
      </p:sp>
      <p:sp>
        <p:nvSpPr>
          <p:cNvPr id="25" name="SumLine2"/>
          <p:cNvSpPr/>
          <p:nvPr/>
        </p:nvSpPr>
        <p:spPr>
          <a:xfrm>
            <a:off x="-8677500" y="6244994"/>
            <a:ext cx="8000000" cy="69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kern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OpEx</a:t>
            </a:r>
            <a:r>
              <a:rPr lang="en-US" sz="16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 €21,500/</a:t>
            </a:r>
            <a:r>
              <a:rPr lang="en-US" sz="1600" kern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mo</a:t>
            </a:r>
            <a:r>
              <a:rPr lang="en-US" sz="16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 ÷ contribution margin €275/store = 78 stores to break-even.</a:t>
            </a:r>
            <a:endParaRPr lang="en-US"/>
          </a:p>
        </p:txBody>
      </p:sp>
      <p:sp>
        <p:nvSpPr>
          <p:cNvPr id="26" name="NoteBox"/>
          <p:cNvSpPr/>
          <p:nvPr/>
        </p:nvSpPr>
        <p:spPr>
          <a:xfrm>
            <a:off x="788000" y="8835911"/>
            <a:ext cx="7974000" cy="52573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NoteLbl"/>
          <p:cNvSpPr/>
          <p:nvPr/>
        </p:nvSpPr>
        <p:spPr>
          <a:xfrm>
            <a:off x="-8427500" y="8728760"/>
            <a:ext cx="15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COST STACK</a:t>
            </a:r>
            <a:endParaRPr lang="en-US"/>
          </a:p>
        </p:txBody>
      </p:sp>
      <p:sp>
        <p:nvSpPr>
          <p:cNvPr id="28" name="NoteTxt"/>
          <p:cNvSpPr/>
          <p:nvPr/>
        </p:nvSpPr>
        <p:spPr>
          <a:xfrm>
            <a:off x="943702" y="8992605"/>
            <a:ext cx="5800000" cy="2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Full breakdown in Appendix A2: Financial </a:t>
            </a:r>
            <a:r>
              <a:rPr lang="en-US" sz="1200" kern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Model.V</a:t>
            </a:r>
            <a:endParaRPr lang="en-US"/>
          </a:p>
        </p:txBody>
      </p:sp>
      <p:sp>
        <p:nvSpPr>
          <p:cNvPr id="50" name="FooterDivider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FooterPg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09</a:t>
            </a:r>
            <a:endParaRPr lang="en-US"/>
          </a:p>
        </p:txBody>
      </p:sp>
      <p:pic>
        <p:nvPicPr>
          <p:cNvPr id="53" name="Pictur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54" name="ltvLabel1"/>
          <p:cNvSpPr/>
          <p:nvPr/>
        </p:nvSpPr>
        <p:spPr>
          <a:xfrm>
            <a:off x="9300000" y="7869720"/>
            <a:ext cx="27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LTV / CAC · LAUNCH</a:t>
            </a:r>
            <a:endParaRPr lang="en-US" sz="1200"/>
          </a:p>
        </p:txBody>
      </p:sp>
      <p:sp>
        <p:nvSpPr>
          <p:cNvPr id="55" name="ltvLabel2"/>
          <p:cNvSpPr/>
          <p:nvPr/>
        </p:nvSpPr>
        <p:spPr>
          <a:xfrm>
            <a:off x="12050000" y="7869720"/>
            <a:ext cx="27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AT SCALE · PHASE 3</a:t>
            </a:r>
            <a:endParaRPr lang="en-US" sz="1200"/>
          </a:p>
        </p:txBody>
      </p:sp>
      <p:sp>
        <p:nvSpPr>
          <p:cNvPr id="56" name="ltvLabel3"/>
          <p:cNvSpPr/>
          <p:nvPr/>
        </p:nvSpPr>
        <p:spPr>
          <a:xfrm>
            <a:off x="14800000" y="7869720"/>
            <a:ext cx="27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SAAS BENCHMARK</a:t>
            </a:r>
            <a:endParaRPr lang="en-US" sz="1200"/>
          </a:p>
        </p:txBody>
      </p:sp>
      <p:sp>
        <p:nvSpPr>
          <p:cNvPr id="57" name="ltvNum1"/>
          <p:cNvSpPr/>
          <p:nvPr/>
        </p:nvSpPr>
        <p:spPr>
          <a:xfrm>
            <a:off x="9300000" y="8119720"/>
            <a:ext cx="270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188 : 1</a:t>
            </a:r>
            <a:endParaRPr lang="en-US" sz="3200"/>
          </a:p>
        </p:txBody>
      </p:sp>
      <p:sp>
        <p:nvSpPr>
          <p:cNvPr id="58" name="ltvNum2"/>
          <p:cNvSpPr/>
          <p:nvPr/>
        </p:nvSpPr>
        <p:spPr>
          <a:xfrm>
            <a:off x="12050000" y="8119720"/>
            <a:ext cx="270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43 : 1</a:t>
            </a:r>
            <a:endParaRPr lang="en-US" sz="3200"/>
          </a:p>
        </p:txBody>
      </p:sp>
      <p:sp>
        <p:nvSpPr>
          <p:cNvPr id="59" name="ltvNum3"/>
          <p:cNvSpPr/>
          <p:nvPr/>
        </p:nvSpPr>
        <p:spPr>
          <a:xfrm>
            <a:off x="14800000" y="8119720"/>
            <a:ext cx="27000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3 : 1</a:t>
            </a:r>
            <a:endParaRPr lang="en-US" sz="3200"/>
          </a:p>
        </p:txBody>
      </p:sp>
      <p:sp>
        <p:nvSpPr>
          <p:cNvPr id="60" name="ltvCap"/>
          <p:cNvSpPr/>
          <p:nvPr/>
        </p:nvSpPr>
        <p:spPr>
          <a:xfrm>
            <a:off x="9300000" y="8919720"/>
            <a:ext cx="8226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00" kern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Founder-led GTM at launch; full sales team at scale; SaaS healthy benchmark.</a:t>
            </a:r>
            <a:endParaRPr lang="en-US" sz="130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291116B1-704A-EFB9-442C-D600A581D36A}"/>
              </a:ext>
            </a:extLst>
          </p:cNvPr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8000"/>
              </a:lnSpc>
            </a:pP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€300 per store / month. 92% </a:t>
            </a: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margin. First paying chain crosses break-even alone.</a:t>
            </a:r>
            <a:endParaRPr lang="en-US" sz="420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C28BEAF9-21EA-7D8E-D2CF-38EA47526C67}"/>
              </a:ext>
            </a:extLst>
          </p:cNvPr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cs typeface="Arial" pitchFamily="34" charset="-120"/>
              </a:rPr>
              <a:t>BUSINESS MODEL &amp; UNIT ECONOMICS</a:t>
            </a:r>
            <a:endParaRPr lang="en-US" sz="1200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CA908153-0A38-23D7-0568-67DDBA1762E8}"/>
              </a:ext>
            </a:extLst>
          </p:cNvPr>
          <p:cNvSpPr/>
          <p:nvPr/>
        </p:nvSpPr>
        <p:spPr>
          <a:xfrm>
            <a:off x="9301163" y="3968188"/>
            <a:ext cx="2710656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05992F14-4D6C-50FA-0B7D-6FA1D8FB958E}"/>
              </a:ext>
            </a:extLst>
          </p:cNvPr>
          <p:cNvSpPr/>
          <p:nvPr/>
        </p:nvSpPr>
        <p:spPr>
          <a:xfrm>
            <a:off x="9301163" y="4314263"/>
            <a:ext cx="2710656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89A977C3-0515-0385-EA14-C2B6E9B6CD55}"/>
              </a:ext>
            </a:extLst>
          </p:cNvPr>
          <p:cNvSpPr/>
          <p:nvPr/>
        </p:nvSpPr>
        <p:spPr>
          <a:xfrm>
            <a:off x="9434513" y="4082488"/>
            <a:ext cx="2525276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200"/>
          </a:p>
        </p:txBody>
      </p:sp>
      <p:sp>
        <p:nvSpPr>
          <p:cNvPr id="67" name="Shape 14">
            <a:extLst>
              <a:ext uri="{FF2B5EF4-FFF2-40B4-BE49-F238E27FC236}">
                <a16:creationId xmlns:a16="http://schemas.microsoft.com/office/drawing/2014/main" id="{B88579A7-2F14-1A96-DD17-81C6F4189656}"/>
              </a:ext>
            </a:extLst>
          </p:cNvPr>
          <p:cNvSpPr/>
          <p:nvPr/>
        </p:nvSpPr>
        <p:spPr>
          <a:xfrm>
            <a:off x="12011819" y="3968188"/>
            <a:ext cx="1629271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57B500A7-FBFE-608A-204F-12231F35BB5B}"/>
              </a:ext>
            </a:extLst>
          </p:cNvPr>
          <p:cNvSpPr/>
          <p:nvPr/>
        </p:nvSpPr>
        <p:spPr>
          <a:xfrm>
            <a:off x="12011819" y="4314263"/>
            <a:ext cx="1629271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A513883B-8993-A958-DABE-516A339261FF}"/>
              </a:ext>
            </a:extLst>
          </p:cNvPr>
          <p:cNvSpPr/>
          <p:nvPr/>
        </p:nvSpPr>
        <p:spPr>
          <a:xfrm>
            <a:off x="12145169" y="4082488"/>
            <a:ext cx="1438771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1200"/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AB04E7F7-4D89-42A5-7514-3312BDB29ED9}"/>
              </a:ext>
            </a:extLst>
          </p:cNvPr>
          <p:cNvSpPr/>
          <p:nvPr/>
        </p:nvSpPr>
        <p:spPr>
          <a:xfrm>
            <a:off x="13641091" y="3968188"/>
            <a:ext cx="2529780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8842B803-C8E1-6D8E-B21A-85BD90680343}"/>
              </a:ext>
            </a:extLst>
          </p:cNvPr>
          <p:cNvSpPr/>
          <p:nvPr/>
        </p:nvSpPr>
        <p:spPr>
          <a:xfrm>
            <a:off x="13641091" y="4314263"/>
            <a:ext cx="252978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5740FC7A-76C0-82E9-008E-AAAA45C11402}"/>
              </a:ext>
            </a:extLst>
          </p:cNvPr>
          <p:cNvSpPr/>
          <p:nvPr/>
        </p:nvSpPr>
        <p:spPr>
          <a:xfrm>
            <a:off x="13774441" y="4082488"/>
            <a:ext cx="2339280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</a:t>
            </a:r>
            <a:endParaRPr lang="en-US" sz="1200"/>
          </a:p>
        </p:txBody>
      </p:sp>
      <p:sp>
        <p:nvSpPr>
          <p:cNvPr id="73" name="Shape 20">
            <a:extLst>
              <a:ext uri="{FF2B5EF4-FFF2-40B4-BE49-F238E27FC236}">
                <a16:creationId xmlns:a16="http://schemas.microsoft.com/office/drawing/2014/main" id="{7AFA6267-E009-A8FB-3A86-9DD635883ADE}"/>
              </a:ext>
            </a:extLst>
          </p:cNvPr>
          <p:cNvSpPr/>
          <p:nvPr/>
        </p:nvSpPr>
        <p:spPr>
          <a:xfrm>
            <a:off x="16170871" y="3968188"/>
            <a:ext cx="1207492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058A2DA2-AA96-94A6-FF37-F8C8A6666C93}"/>
              </a:ext>
            </a:extLst>
          </p:cNvPr>
          <p:cNvSpPr/>
          <p:nvPr/>
        </p:nvSpPr>
        <p:spPr>
          <a:xfrm>
            <a:off x="16170871" y="4314263"/>
            <a:ext cx="1207492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6FF9CF71-D1C1-3CC0-0EF6-8DE88DCF7A4A}"/>
              </a:ext>
            </a:extLst>
          </p:cNvPr>
          <p:cNvSpPr/>
          <p:nvPr/>
        </p:nvSpPr>
        <p:spPr>
          <a:xfrm>
            <a:off x="16304221" y="4082488"/>
            <a:ext cx="1016992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1200"/>
          </a:p>
        </p:txBody>
      </p:sp>
      <p:sp>
        <p:nvSpPr>
          <p:cNvPr id="76" name="Shape 23">
            <a:extLst>
              <a:ext uri="{FF2B5EF4-FFF2-40B4-BE49-F238E27FC236}">
                <a16:creationId xmlns:a16="http://schemas.microsoft.com/office/drawing/2014/main" id="{5528108F-919E-03E3-6727-F150FBEEC5C0}"/>
              </a:ext>
            </a:extLst>
          </p:cNvPr>
          <p:cNvSpPr/>
          <p:nvPr/>
        </p:nvSpPr>
        <p:spPr>
          <a:xfrm>
            <a:off x="9301163" y="4987363"/>
            <a:ext cx="271065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58F3FB79-BFA4-6E98-29D1-EC7D5CCCD442}"/>
              </a:ext>
            </a:extLst>
          </p:cNvPr>
          <p:cNvSpPr/>
          <p:nvPr/>
        </p:nvSpPr>
        <p:spPr>
          <a:xfrm>
            <a:off x="9434513" y="4466663"/>
            <a:ext cx="2525276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</a:t>
            </a:r>
            <a:r>
              <a:rPr lang="en-US" sz="9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75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759FA26-7AA2-1806-07AC-FC59BB4D960E}"/>
              </a:ext>
            </a:extLst>
          </p:cNvPr>
          <p:cNvSpPr/>
          <p:nvPr/>
        </p:nvSpPr>
        <p:spPr>
          <a:xfrm>
            <a:off x="12011819" y="4987363"/>
            <a:ext cx="162927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370A9863-974C-EDB7-1735-4887DCB3EE7C}"/>
              </a:ext>
            </a:extLst>
          </p:cNvPr>
          <p:cNvSpPr/>
          <p:nvPr/>
        </p:nvSpPr>
        <p:spPr>
          <a:xfrm>
            <a:off x="12145169" y="4466663"/>
            <a:ext cx="1438771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/>
          </a:p>
        </p:txBody>
      </p:sp>
      <p:sp>
        <p:nvSpPr>
          <p:cNvPr id="80" name="Shape 27">
            <a:extLst>
              <a:ext uri="{FF2B5EF4-FFF2-40B4-BE49-F238E27FC236}">
                <a16:creationId xmlns:a16="http://schemas.microsoft.com/office/drawing/2014/main" id="{E3D2EA6E-C771-1634-9681-80138C124716}"/>
              </a:ext>
            </a:extLst>
          </p:cNvPr>
          <p:cNvSpPr/>
          <p:nvPr/>
        </p:nvSpPr>
        <p:spPr>
          <a:xfrm>
            <a:off x="13641091" y="4987363"/>
            <a:ext cx="2529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974951E9-2E92-E2FA-C842-13893DDC0DB2}"/>
              </a:ext>
            </a:extLst>
          </p:cNvPr>
          <p:cNvSpPr/>
          <p:nvPr/>
        </p:nvSpPr>
        <p:spPr>
          <a:xfrm>
            <a:off x="13774441" y="4466663"/>
            <a:ext cx="233928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€15,000</a:t>
            </a:r>
            <a:endParaRPr lang="en-US" sz="1200"/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9A1DEDF0-CFB6-2B76-25AD-B6C4058EC130}"/>
              </a:ext>
            </a:extLst>
          </p:cNvPr>
          <p:cNvSpPr/>
          <p:nvPr/>
        </p:nvSpPr>
        <p:spPr>
          <a:xfrm>
            <a:off x="16170871" y="4987363"/>
            <a:ext cx="12074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843D33C7-0019-B963-4C83-A67C0E42C609}"/>
              </a:ext>
            </a:extLst>
          </p:cNvPr>
          <p:cNvSpPr/>
          <p:nvPr/>
        </p:nvSpPr>
        <p:spPr>
          <a:xfrm>
            <a:off x="16304221" y="4466663"/>
            <a:ext cx="1016992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200"/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8C4DA7AF-7E42-720C-C2CE-0FD56555DAFF}"/>
              </a:ext>
            </a:extLst>
          </p:cNvPr>
          <p:cNvSpPr/>
          <p:nvPr/>
        </p:nvSpPr>
        <p:spPr>
          <a:xfrm>
            <a:off x="9301163" y="5641413"/>
            <a:ext cx="271065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20D30515-BADF-4441-CCA0-81FC205C3225}"/>
              </a:ext>
            </a:extLst>
          </p:cNvPr>
          <p:cNvSpPr/>
          <p:nvPr/>
        </p:nvSpPr>
        <p:spPr>
          <a:xfrm>
            <a:off x="9434513" y="5127063"/>
            <a:ext cx="25252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Growth </a:t>
            </a:r>
            <a:r>
              <a:rPr lang="en-US" sz="9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18</a:t>
            </a:r>
            <a:endParaRPr lang="en-US" sz="1275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21DD1457-DDC4-EB7F-B586-4942F48F3F6E}"/>
              </a:ext>
            </a:extLst>
          </p:cNvPr>
          <p:cNvSpPr/>
          <p:nvPr/>
        </p:nvSpPr>
        <p:spPr>
          <a:xfrm>
            <a:off x="12011819" y="5641413"/>
            <a:ext cx="162927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ABE5BF13-32E5-CD93-5BAF-9B3839D89CA8}"/>
              </a:ext>
            </a:extLst>
          </p:cNvPr>
          <p:cNvSpPr/>
          <p:nvPr/>
        </p:nvSpPr>
        <p:spPr>
          <a:xfrm>
            <a:off x="12145169" y="5127063"/>
            <a:ext cx="14387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/>
          </a:p>
        </p:txBody>
      </p:sp>
      <p:sp>
        <p:nvSpPr>
          <p:cNvPr id="88" name="Shape 35">
            <a:extLst>
              <a:ext uri="{FF2B5EF4-FFF2-40B4-BE49-F238E27FC236}">
                <a16:creationId xmlns:a16="http://schemas.microsoft.com/office/drawing/2014/main" id="{69ED65C7-906E-BD32-4663-BCA77D120800}"/>
              </a:ext>
            </a:extLst>
          </p:cNvPr>
          <p:cNvSpPr/>
          <p:nvPr/>
        </p:nvSpPr>
        <p:spPr>
          <a:xfrm>
            <a:off x="13641091" y="5641413"/>
            <a:ext cx="2529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9" name="Text 36">
            <a:extLst>
              <a:ext uri="{FF2B5EF4-FFF2-40B4-BE49-F238E27FC236}">
                <a16:creationId xmlns:a16="http://schemas.microsoft.com/office/drawing/2014/main" id="{79D3AE9A-301D-94CE-97CD-E04F32E8D54C}"/>
              </a:ext>
            </a:extLst>
          </p:cNvPr>
          <p:cNvSpPr/>
          <p:nvPr/>
        </p:nvSpPr>
        <p:spPr>
          <a:xfrm>
            <a:off x="13774441" y="5127063"/>
            <a:ext cx="23392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€150,000</a:t>
            </a:r>
            <a:endParaRPr lang="en-US" sz="1200"/>
          </a:p>
        </p:txBody>
      </p:sp>
      <p:sp>
        <p:nvSpPr>
          <p:cNvPr id="90" name="Shape 37">
            <a:extLst>
              <a:ext uri="{FF2B5EF4-FFF2-40B4-BE49-F238E27FC236}">
                <a16:creationId xmlns:a16="http://schemas.microsoft.com/office/drawing/2014/main" id="{F63725A7-EF30-D17E-0D09-DB8841D8FCC8}"/>
              </a:ext>
            </a:extLst>
          </p:cNvPr>
          <p:cNvSpPr/>
          <p:nvPr/>
        </p:nvSpPr>
        <p:spPr>
          <a:xfrm>
            <a:off x="16170871" y="5641413"/>
            <a:ext cx="12074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1" name="Text 38">
            <a:extLst>
              <a:ext uri="{FF2B5EF4-FFF2-40B4-BE49-F238E27FC236}">
                <a16:creationId xmlns:a16="http://schemas.microsoft.com/office/drawing/2014/main" id="{D2D020E6-938C-D8F8-67EB-47D7896A36AD}"/>
              </a:ext>
            </a:extLst>
          </p:cNvPr>
          <p:cNvSpPr/>
          <p:nvPr/>
        </p:nvSpPr>
        <p:spPr>
          <a:xfrm>
            <a:off x="16304221" y="5127063"/>
            <a:ext cx="10169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200"/>
          </a:p>
        </p:txBody>
      </p:sp>
      <p:sp>
        <p:nvSpPr>
          <p:cNvPr id="92" name="Shape 39">
            <a:extLst>
              <a:ext uri="{FF2B5EF4-FFF2-40B4-BE49-F238E27FC236}">
                <a16:creationId xmlns:a16="http://schemas.microsoft.com/office/drawing/2014/main" id="{880D3015-7FC5-F454-A7FA-3F512CFDAA9E}"/>
              </a:ext>
            </a:extLst>
          </p:cNvPr>
          <p:cNvSpPr/>
          <p:nvPr/>
        </p:nvSpPr>
        <p:spPr>
          <a:xfrm>
            <a:off x="9301163" y="5647764"/>
            <a:ext cx="2710656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3" name="Shape 40">
            <a:extLst>
              <a:ext uri="{FF2B5EF4-FFF2-40B4-BE49-F238E27FC236}">
                <a16:creationId xmlns:a16="http://schemas.microsoft.com/office/drawing/2014/main" id="{DCE59784-1906-FDC1-DEEB-A4DBEB32C9CE}"/>
              </a:ext>
            </a:extLst>
          </p:cNvPr>
          <p:cNvSpPr/>
          <p:nvPr/>
        </p:nvSpPr>
        <p:spPr>
          <a:xfrm>
            <a:off x="9301163" y="6308164"/>
            <a:ext cx="2710656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4" name="Text 41">
            <a:extLst>
              <a:ext uri="{FF2B5EF4-FFF2-40B4-BE49-F238E27FC236}">
                <a16:creationId xmlns:a16="http://schemas.microsoft.com/office/drawing/2014/main" id="{A8E2313F-6E96-A8DC-34B4-C8AE11D3E747}"/>
              </a:ext>
            </a:extLst>
          </p:cNvPr>
          <p:cNvSpPr/>
          <p:nvPr/>
        </p:nvSpPr>
        <p:spPr>
          <a:xfrm>
            <a:off x="9434513" y="5781114"/>
            <a:ext cx="252527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</a:t>
            </a:r>
            <a:r>
              <a:rPr lang="en-US" sz="975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36</a:t>
            </a:r>
            <a:endParaRPr lang="en-US" sz="1275"/>
          </a:p>
        </p:txBody>
      </p:sp>
      <p:sp>
        <p:nvSpPr>
          <p:cNvPr id="95" name="Shape 42">
            <a:extLst>
              <a:ext uri="{FF2B5EF4-FFF2-40B4-BE49-F238E27FC236}">
                <a16:creationId xmlns:a16="http://schemas.microsoft.com/office/drawing/2014/main" id="{FEE531E2-36E5-084F-9FBD-5FDCEE460C9B}"/>
              </a:ext>
            </a:extLst>
          </p:cNvPr>
          <p:cNvSpPr/>
          <p:nvPr/>
        </p:nvSpPr>
        <p:spPr>
          <a:xfrm>
            <a:off x="12011819" y="5647764"/>
            <a:ext cx="1629271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6" name="Shape 43">
            <a:extLst>
              <a:ext uri="{FF2B5EF4-FFF2-40B4-BE49-F238E27FC236}">
                <a16:creationId xmlns:a16="http://schemas.microsoft.com/office/drawing/2014/main" id="{39B95A75-5862-3FEA-462A-DC0FEE1DC6EF}"/>
              </a:ext>
            </a:extLst>
          </p:cNvPr>
          <p:cNvSpPr/>
          <p:nvPr/>
        </p:nvSpPr>
        <p:spPr>
          <a:xfrm>
            <a:off x="12011819" y="6308164"/>
            <a:ext cx="162927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A1FE26E8-B13B-580F-F59D-9EA19081AFC7}"/>
              </a:ext>
            </a:extLst>
          </p:cNvPr>
          <p:cNvSpPr/>
          <p:nvPr/>
        </p:nvSpPr>
        <p:spPr>
          <a:xfrm>
            <a:off x="12145169" y="5781114"/>
            <a:ext cx="1438771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1200"/>
          </a:p>
        </p:txBody>
      </p:sp>
      <p:sp>
        <p:nvSpPr>
          <p:cNvPr id="98" name="Shape 45">
            <a:extLst>
              <a:ext uri="{FF2B5EF4-FFF2-40B4-BE49-F238E27FC236}">
                <a16:creationId xmlns:a16="http://schemas.microsoft.com/office/drawing/2014/main" id="{DC7ECA1B-6009-ABEE-C93D-59C6D6C7D4B8}"/>
              </a:ext>
            </a:extLst>
          </p:cNvPr>
          <p:cNvSpPr/>
          <p:nvPr/>
        </p:nvSpPr>
        <p:spPr>
          <a:xfrm>
            <a:off x="13641091" y="5647764"/>
            <a:ext cx="2529780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9" name="Shape 46">
            <a:extLst>
              <a:ext uri="{FF2B5EF4-FFF2-40B4-BE49-F238E27FC236}">
                <a16:creationId xmlns:a16="http://schemas.microsoft.com/office/drawing/2014/main" id="{2DD22787-4B86-7FE3-1598-20074146F7FB}"/>
              </a:ext>
            </a:extLst>
          </p:cNvPr>
          <p:cNvSpPr/>
          <p:nvPr/>
        </p:nvSpPr>
        <p:spPr>
          <a:xfrm>
            <a:off x="13641091" y="6308164"/>
            <a:ext cx="2529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0" name="Text 47">
            <a:extLst>
              <a:ext uri="{FF2B5EF4-FFF2-40B4-BE49-F238E27FC236}">
                <a16:creationId xmlns:a16="http://schemas.microsoft.com/office/drawing/2014/main" id="{6CF4B100-40DC-12FC-B3CD-191B5F2BAF8A}"/>
              </a:ext>
            </a:extLst>
          </p:cNvPr>
          <p:cNvSpPr/>
          <p:nvPr/>
        </p:nvSpPr>
        <p:spPr>
          <a:xfrm>
            <a:off x="13774441" y="5781114"/>
            <a:ext cx="233928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€900,000</a:t>
            </a:r>
            <a:endParaRPr lang="en-US" sz="1200"/>
          </a:p>
        </p:txBody>
      </p:sp>
      <p:sp>
        <p:nvSpPr>
          <p:cNvPr id="101" name="Shape 48">
            <a:extLst>
              <a:ext uri="{FF2B5EF4-FFF2-40B4-BE49-F238E27FC236}">
                <a16:creationId xmlns:a16="http://schemas.microsoft.com/office/drawing/2014/main" id="{338C99B0-D538-EDAC-C6DE-0E0ED549EA18}"/>
              </a:ext>
            </a:extLst>
          </p:cNvPr>
          <p:cNvSpPr/>
          <p:nvPr/>
        </p:nvSpPr>
        <p:spPr>
          <a:xfrm>
            <a:off x="16170871" y="5647764"/>
            <a:ext cx="1207492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2" name="Shape 49">
            <a:extLst>
              <a:ext uri="{FF2B5EF4-FFF2-40B4-BE49-F238E27FC236}">
                <a16:creationId xmlns:a16="http://schemas.microsoft.com/office/drawing/2014/main" id="{8578AA4E-1C09-220F-99CF-EA03E72C7F21}"/>
              </a:ext>
            </a:extLst>
          </p:cNvPr>
          <p:cNvSpPr/>
          <p:nvPr/>
        </p:nvSpPr>
        <p:spPr>
          <a:xfrm>
            <a:off x="16170871" y="6308164"/>
            <a:ext cx="12074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A171AEE5-0576-C9B9-08F2-C10043DB2D01}"/>
              </a:ext>
            </a:extLst>
          </p:cNvPr>
          <p:cNvSpPr/>
          <p:nvPr/>
        </p:nvSpPr>
        <p:spPr>
          <a:xfrm>
            <a:off x="16304221" y="5781114"/>
            <a:ext cx="101699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200"/>
          </a:p>
        </p:txBody>
      </p:sp>
      <p:sp>
        <p:nvSpPr>
          <p:cNvPr id="104" name="ltvBox">
            <a:extLst>
              <a:ext uri="{FF2B5EF4-FFF2-40B4-BE49-F238E27FC236}">
                <a16:creationId xmlns:a16="http://schemas.microsoft.com/office/drawing/2014/main" id="{4B540790-8EC2-57DA-707A-D18E17B7634D}"/>
              </a:ext>
            </a:extLst>
          </p:cNvPr>
          <p:cNvSpPr/>
          <p:nvPr/>
        </p:nvSpPr>
        <p:spPr>
          <a:xfrm>
            <a:off x="9300000" y="6679120"/>
            <a:ext cx="4000000" cy="850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ltvLbl">
            <a:extLst>
              <a:ext uri="{FF2B5EF4-FFF2-40B4-BE49-F238E27FC236}">
                <a16:creationId xmlns:a16="http://schemas.microsoft.com/office/drawing/2014/main" id="{09B547EE-3450-22E9-0AB2-CBFFC13A831B}"/>
              </a:ext>
            </a:extLst>
          </p:cNvPr>
          <p:cNvSpPr/>
          <p:nvPr/>
        </p:nvSpPr>
        <p:spPr>
          <a:xfrm>
            <a:off x="9500000" y="6829120"/>
            <a:ext cx="37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LTV PER CHAIN</a:t>
            </a:r>
            <a:endParaRPr lang="en-US" sz="1200"/>
          </a:p>
        </p:txBody>
      </p:sp>
      <p:sp>
        <p:nvSpPr>
          <p:cNvPr id="106" name="ltvVal">
            <a:extLst>
              <a:ext uri="{FF2B5EF4-FFF2-40B4-BE49-F238E27FC236}">
                <a16:creationId xmlns:a16="http://schemas.microsoft.com/office/drawing/2014/main" id="{58A50321-621C-C7C6-D5EC-532D330494E2}"/>
              </a:ext>
            </a:extLst>
          </p:cNvPr>
          <p:cNvSpPr/>
          <p:nvPr/>
        </p:nvSpPr>
        <p:spPr>
          <a:xfrm>
            <a:off x="9500000" y="7059120"/>
            <a:ext cx="37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€1.5M</a:t>
            </a:r>
            <a:endParaRPr lang="en-US" sz="2400"/>
          </a:p>
        </p:txBody>
      </p:sp>
      <p:sp>
        <p:nvSpPr>
          <p:cNvPr id="107" name="cacBox">
            <a:extLst>
              <a:ext uri="{FF2B5EF4-FFF2-40B4-BE49-F238E27FC236}">
                <a16:creationId xmlns:a16="http://schemas.microsoft.com/office/drawing/2014/main" id="{A2BBC92E-889A-9EF5-F26E-9A4B03916E04}"/>
              </a:ext>
            </a:extLst>
          </p:cNvPr>
          <p:cNvSpPr/>
          <p:nvPr/>
        </p:nvSpPr>
        <p:spPr>
          <a:xfrm>
            <a:off x="13526000" y="6679120"/>
            <a:ext cx="4000000" cy="850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cacLbl">
            <a:extLst>
              <a:ext uri="{FF2B5EF4-FFF2-40B4-BE49-F238E27FC236}">
                <a16:creationId xmlns:a16="http://schemas.microsoft.com/office/drawing/2014/main" id="{76FF73C0-A93D-BB95-286C-77CE5A37543A}"/>
              </a:ext>
            </a:extLst>
          </p:cNvPr>
          <p:cNvSpPr/>
          <p:nvPr/>
        </p:nvSpPr>
        <p:spPr>
          <a:xfrm>
            <a:off x="13726000" y="6829120"/>
            <a:ext cx="3700000" cy="2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CAC · FOUNDER-LED</a:t>
            </a:r>
            <a:endParaRPr lang="en-US" sz="1200"/>
          </a:p>
        </p:txBody>
      </p:sp>
      <p:sp>
        <p:nvSpPr>
          <p:cNvPr id="109" name="cacVal">
            <a:extLst>
              <a:ext uri="{FF2B5EF4-FFF2-40B4-BE49-F238E27FC236}">
                <a16:creationId xmlns:a16="http://schemas.microsoft.com/office/drawing/2014/main" id="{ABD48564-2B01-4719-3ECD-2D88C9DF6175}"/>
              </a:ext>
            </a:extLst>
          </p:cNvPr>
          <p:cNvSpPr/>
          <p:nvPr/>
        </p:nvSpPr>
        <p:spPr>
          <a:xfrm>
            <a:off x="13726000" y="7059120"/>
            <a:ext cx="37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€8k</a:t>
            </a:r>
            <a:endParaRPr lang="en-US" sz="2400"/>
          </a:p>
        </p:txBody>
      </p:sp>
      <p:sp>
        <p:nvSpPr>
          <p:cNvPr id="114" name="Shape 71">
            <a:extLst>
              <a:ext uri="{FF2B5EF4-FFF2-40B4-BE49-F238E27FC236}">
                <a16:creationId xmlns:a16="http://schemas.microsoft.com/office/drawing/2014/main" id="{B3C65F1A-642C-D593-DD9B-A45E63C79296}"/>
              </a:ext>
            </a:extLst>
          </p:cNvPr>
          <p:cNvSpPr/>
          <p:nvPr/>
        </p:nvSpPr>
        <p:spPr>
          <a:xfrm>
            <a:off x="762000" y="6082506"/>
            <a:ext cx="685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5" name="Text 72">
            <a:extLst>
              <a:ext uri="{FF2B5EF4-FFF2-40B4-BE49-F238E27FC236}">
                <a16:creationId xmlns:a16="http://schemas.microsoft.com/office/drawing/2014/main" id="{2FD475B1-D6C0-3D93-03BF-9C20FEDD20CF}"/>
              </a:ext>
            </a:extLst>
          </p:cNvPr>
          <p:cNvSpPr/>
          <p:nvPr/>
        </p:nvSpPr>
        <p:spPr>
          <a:xfrm>
            <a:off x="762000" y="5790406"/>
            <a:ext cx="70637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050"/>
          </a:p>
        </p:txBody>
      </p:sp>
      <p:sp>
        <p:nvSpPr>
          <p:cNvPr id="116" name="Text 73">
            <a:extLst>
              <a:ext uri="{FF2B5EF4-FFF2-40B4-BE49-F238E27FC236}">
                <a16:creationId xmlns:a16="http://schemas.microsoft.com/office/drawing/2014/main" id="{6997FFB8-774E-7AE3-F4AC-C4A57349E1F6}"/>
              </a:ext>
            </a:extLst>
          </p:cNvPr>
          <p:cNvSpPr/>
          <p:nvPr/>
        </p:nvSpPr>
        <p:spPr>
          <a:xfrm>
            <a:off x="762000" y="6317456"/>
            <a:ext cx="11353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7200"/>
          </a:p>
        </p:txBody>
      </p:sp>
      <p:sp>
        <p:nvSpPr>
          <p:cNvPr id="117" name="Text 74">
            <a:extLst>
              <a:ext uri="{FF2B5EF4-FFF2-40B4-BE49-F238E27FC236}">
                <a16:creationId xmlns:a16="http://schemas.microsoft.com/office/drawing/2014/main" id="{FB841455-9B34-B781-2D94-E8ACEDD681AB}"/>
              </a:ext>
            </a:extLst>
          </p:cNvPr>
          <p:cNvSpPr/>
          <p:nvPr/>
        </p:nvSpPr>
        <p:spPr>
          <a:xfrm>
            <a:off x="1973561" y="6759514"/>
            <a:ext cx="74979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1800"/>
          </a:p>
        </p:txBody>
      </p:sp>
      <p:sp>
        <p:nvSpPr>
          <p:cNvPr id="118" name="Text 75">
            <a:extLst>
              <a:ext uri="{FF2B5EF4-FFF2-40B4-BE49-F238E27FC236}">
                <a16:creationId xmlns:a16="http://schemas.microsoft.com/office/drawing/2014/main" id="{B733236F-2552-8AB7-41BE-1D0612C13A95}"/>
              </a:ext>
            </a:extLst>
          </p:cNvPr>
          <p:cNvSpPr/>
          <p:nvPr/>
        </p:nvSpPr>
        <p:spPr>
          <a:xfrm>
            <a:off x="762000" y="7460456"/>
            <a:ext cx="70637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€21,500/mo ÷ contribution margin €275/store = </a:t>
            </a:r>
            <a:r>
              <a:rPr lang="en-US" sz="13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stores</a:t>
            </a:r>
            <a:endParaRPr lang="en-US" sz="1350"/>
          </a:p>
        </p:txBody>
      </p:sp>
      <p:sp>
        <p:nvSpPr>
          <p:cNvPr id="119" name="Shape 76">
            <a:extLst>
              <a:ext uri="{FF2B5EF4-FFF2-40B4-BE49-F238E27FC236}">
                <a16:creationId xmlns:a16="http://schemas.microsoft.com/office/drawing/2014/main" id="{76594F86-BD14-2CDF-F20C-B12E08BC093A}"/>
              </a:ext>
            </a:extLst>
          </p:cNvPr>
          <p:cNvSpPr/>
          <p:nvPr/>
        </p:nvSpPr>
        <p:spPr>
          <a:xfrm>
            <a:off x="762000" y="8065480"/>
            <a:ext cx="8000000" cy="561903"/>
          </a:xfrm>
          <a:prstGeom prst="rect">
            <a:avLst/>
          </a:prstGeom>
          <a:solidFill>
            <a:srgbClr val="E8F1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0" name="Text 77">
            <a:extLst>
              <a:ext uri="{FF2B5EF4-FFF2-40B4-BE49-F238E27FC236}">
                <a16:creationId xmlns:a16="http://schemas.microsoft.com/office/drawing/2014/main" id="{D7C3B177-7DE4-106B-9DA5-D7A1FE240382}"/>
              </a:ext>
            </a:extLst>
          </p:cNvPr>
          <p:cNvSpPr/>
          <p:nvPr/>
        </p:nvSpPr>
        <p:spPr>
          <a:xfrm>
            <a:off x="1028700" y="8297183"/>
            <a:ext cx="10521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00"/>
          </a:p>
        </p:txBody>
      </p:sp>
      <p:sp>
        <p:nvSpPr>
          <p:cNvPr id="121" name="Text 78">
            <a:extLst>
              <a:ext uri="{FF2B5EF4-FFF2-40B4-BE49-F238E27FC236}">
                <a16:creationId xmlns:a16="http://schemas.microsoft.com/office/drawing/2014/main" id="{60934B6F-3BF7-CA34-A90A-369C25BCC7EA}"/>
              </a:ext>
            </a:extLst>
          </p:cNvPr>
          <p:cNvSpPr/>
          <p:nvPr/>
        </p:nvSpPr>
        <p:spPr>
          <a:xfrm>
            <a:off x="2233216" y="8232497"/>
            <a:ext cx="4712707" cy="315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00" kern="0" spc="-6">
                <a:latin typeface="Arial" pitchFamily="34" charset="0"/>
                <a:ea typeface="Arial" pitchFamily="34" charset="-122"/>
                <a:cs typeface="Arial" pitchFamily="34" charset="-120"/>
              </a:rPr>
              <a:t>The first paying chain crosses break-even on its own</a:t>
            </a:r>
            <a:endParaRPr lang="en-US" sz="110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8080CA6E-BD01-9909-F639-0C23383030D1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BUSINESS MODEL &amp; ECONOMICS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4D9A83FF-DA6A-3FD7-4F3C-FB03CD98B628}"/>
              </a:ext>
            </a:extLst>
          </p:cNvPr>
          <p:cNvSpPr/>
          <p:nvPr/>
        </p:nvSpPr>
        <p:spPr>
          <a:xfrm>
            <a:off x="6553200" y="7419023"/>
            <a:ext cx="5181600" cy="9144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1D3479D-6926-871A-F477-9BA681289A77}"/>
              </a:ext>
            </a:extLst>
          </p:cNvPr>
          <p:cNvSpPr/>
          <p:nvPr/>
        </p:nvSpPr>
        <p:spPr>
          <a:xfrm>
            <a:off x="12344400" y="7361873"/>
            <a:ext cx="5181600" cy="9144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9E2E938-CCC4-961B-442A-F0E48EE086FB}"/>
              </a:ext>
            </a:extLst>
          </p:cNvPr>
          <p:cNvSpPr/>
          <p:nvPr/>
        </p:nvSpPr>
        <p:spPr>
          <a:xfrm>
            <a:off x="762000" y="7419023"/>
            <a:ext cx="5181600" cy="914400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64819" y="222249"/>
            <a:ext cx="94218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competing with Relex.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filling the gap they left behind.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Action-oriented, mid-market priced, days to deploy.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888978"/>
            <a:ext cx="3017441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762000" y="4235053"/>
            <a:ext cx="3017441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895350" y="4003278"/>
            <a:ext cx="2841264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3779441" y="3888978"/>
            <a:ext cx="3688060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3779441" y="4235053"/>
            <a:ext cx="368806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3912791" y="4003278"/>
            <a:ext cx="3532002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7467501" y="3888978"/>
            <a:ext cx="3688060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7467501" y="4235053"/>
            <a:ext cx="368806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7600851" y="4003278"/>
            <a:ext cx="3532002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11155561" y="3888978"/>
            <a:ext cx="3688060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11155561" y="4235053"/>
            <a:ext cx="368806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11288911" y="4003278"/>
            <a:ext cx="3532002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ACTION-ORIENTED?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14843622" y="3888978"/>
            <a:ext cx="2682379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14843622" y="4235053"/>
            <a:ext cx="2682379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14976972" y="4003278"/>
            <a:ext cx="2496150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762000" y="4749403"/>
            <a:ext cx="301744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895350" y="4387453"/>
            <a:ext cx="28412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Relex</a:t>
            </a:r>
            <a:endParaRPr lang="en-US" sz="1275"/>
          </a:p>
        </p:txBody>
      </p:sp>
      <p:sp>
        <p:nvSpPr>
          <p:cNvPr id="28" name="Shape 26"/>
          <p:cNvSpPr/>
          <p:nvPr/>
        </p:nvSpPr>
        <p:spPr>
          <a:xfrm>
            <a:off x="3779441" y="47494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3912791" y="4387453"/>
            <a:ext cx="35320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store enterprise</a:t>
            </a:r>
            <a:endParaRPr lang="en-US" sz="1275"/>
          </a:p>
        </p:txBody>
      </p:sp>
      <p:sp>
        <p:nvSpPr>
          <p:cNvPr id="30" name="Shape 28"/>
          <p:cNvSpPr/>
          <p:nvPr/>
        </p:nvSpPr>
        <p:spPr>
          <a:xfrm>
            <a:off x="7467501" y="47494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7600851" y="4387453"/>
            <a:ext cx="35320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&gt; €1M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11155561" y="47494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3" name="Shape 31"/>
          <p:cNvSpPr/>
          <p:nvPr/>
        </p:nvSpPr>
        <p:spPr>
          <a:xfrm>
            <a:off x="11288911" y="4396978"/>
            <a:ext cx="1360289" cy="22225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11384161" y="4384278"/>
            <a:ext cx="12268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5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14843622" y="4749403"/>
            <a:ext cx="268237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14976972" y="4387453"/>
            <a:ext cx="2496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months</a:t>
            </a:r>
            <a:endParaRPr lang="en-US" sz="1275"/>
          </a:p>
        </p:txBody>
      </p:sp>
      <p:sp>
        <p:nvSpPr>
          <p:cNvPr id="37" name="Shape 35"/>
          <p:cNvSpPr/>
          <p:nvPr/>
        </p:nvSpPr>
        <p:spPr>
          <a:xfrm>
            <a:off x="762000" y="5244703"/>
            <a:ext cx="301744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895350" y="4889103"/>
            <a:ext cx="284126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Yonder (JDA)</a:t>
            </a:r>
            <a:endParaRPr lang="en-US" sz="1275"/>
          </a:p>
        </p:txBody>
      </p:sp>
      <p:sp>
        <p:nvSpPr>
          <p:cNvPr id="39" name="Shape 37"/>
          <p:cNvSpPr/>
          <p:nvPr/>
        </p:nvSpPr>
        <p:spPr>
          <a:xfrm>
            <a:off x="3779441" y="52447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3912791" y="4889103"/>
            <a:ext cx="35320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store enterprise</a:t>
            </a:r>
            <a:endParaRPr lang="en-US" sz="1275"/>
          </a:p>
        </p:txBody>
      </p:sp>
      <p:sp>
        <p:nvSpPr>
          <p:cNvPr id="41" name="Shape 39"/>
          <p:cNvSpPr/>
          <p:nvPr/>
        </p:nvSpPr>
        <p:spPr>
          <a:xfrm>
            <a:off x="7467501" y="52447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7600851" y="4889103"/>
            <a:ext cx="35320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&gt; €1M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11155561" y="52447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6" name="Shape 44"/>
          <p:cNvSpPr/>
          <p:nvPr/>
        </p:nvSpPr>
        <p:spPr>
          <a:xfrm>
            <a:off x="14843622" y="5244703"/>
            <a:ext cx="268237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7" name="Text 45"/>
          <p:cNvSpPr/>
          <p:nvPr/>
        </p:nvSpPr>
        <p:spPr>
          <a:xfrm>
            <a:off x="14976972" y="4889103"/>
            <a:ext cx="24961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integration project</a:t>
            </a:r>
            <a:endParaRPr lang="en-US" sz="1275"/>
          </a:p>
        </p:txBody>
      </p:sp>
      <p:sp>
        <p:nvSpPr>
          <p:cNvPr id="48" name="Shape 46"/>
          <p:cNvSpPr/>
          <p:nvPr/>
        </p:nvSpPr>
        <p:spPr>
          <a:xfrm>
            <a:off x="762000" y="5740003"/>
            <a:ext cx="301744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9" name="Text 47"/>
          <p:cNvSpPr/>
          <p:nvPr/>
        </p:nvSpPr>
        <p:spPr>
          <a:xfrm>
            <a:off x="895350" y="5384403"/>
            <a:ext cx="284126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ToolsGroup</a:t>
            </a:r>
            <a:endParaRPr lang="en-US" sz="1275"/>
          </a:p>
        </p:txBody>
      </p:sp>
      <p:sp>
        <p:nvSpPr>
          <p:cNvPr id="50" name="Shape 48"/>
          <p:cNvSpPr/>
          <p:nvPr/>
        </p:nvSpPr>
        <p:spPr>
          <a:xfrm>
            <a:off x="3779441" y="57400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1" name="Text 49"/>
          <p:cNvSpPr/>
          <p:nvPr/>
        </p:nvSpPr>
        <p:spPr>
          <a:xfrm>
            <a:off x="3912791" y="5384403"/>
            <a:ext cx="35320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Mid-to-large chains</a:t>
            </a:r>
            <a:endParaRPr lang="en-US" sz="1275"/>
          </a:p>
        </p:txBody>
      </p:sp>
      <p:sp>
        <p:nvSpPr>
          <p:cNvPr id="52" name="Shape 50"/>
          <p:cNvSpPr/>
          <p:nvPr/>
        </p:nvSpPr>
        <p:spPr>
          <a:xfrm>
            <a:off x="7467501" y="57400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3" name="Text 51"/>
          <p:cNvSpPr/>
          <p:nvPr/>
        </p:nvSpPr>
        <p:spPr>
          <a:xfrm>
            <a:off x="7600851" y="5384403"/>
            <a:ext cx="35320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six figures</a:t>
            </a:r>
            <a:endParaRPr lang="en-US" sz="1200"/>
          </a:p>
        </p:txBody>
      </p:sp>
      <p:sp>
        <p:nvSpPr>
          <p:cNvPr id="54" name="Shape 52"/>
          <p:cNvSpPr/>
          <p:nvPr/>
        </p:nvSpPr>
        <p:spPr>
          <a:xfrm>
            <a:off x="11155561" y="57400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7" name="Shape 55"/>
          <p:cNvSpPr/>
          <p:nvPr/>
        </p:nvSpPr>
        <p:spPr>
          <a:xfrm>
            <a:off x="14843622" y="5740003"/>
            <a:ext cx="268237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8" name="Text 56"/>
          <p:cNvSpPr/>
          <p:nvPr/>
        </p:nvSpPr>
        <p:spPr>
          <a:xfrm>
            <a:off x="14976972" y="5384403"/>
            <a:ext cx="24961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Multi-month rollout</a:t>
            </a:r>
            <a:endParaRPr lang="en-US" sz="1275"/>
          </a:p>
        </p:txBody>
      </p:sp>
      <p:sp>
        <p:nvSpPr>
          <p:cNvPr id="59" name="Shape 57"/>
          <p:cNvSpPr/>
          <p:nvPr/>
        </p:nvSpPr>
        <p:spPr>
          <a:xfrm>
            <a:off x="762000" y="6235303"/>
            <a:ext cx="301744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0" name="Text 58"/>
          <p:cNvSpPr/>
          <p:nvPr/>
        </p:nvSpPr>
        <p:spPr>
          <a:xfrm>
            <a:off x="895350" y="5879703"/>
            <a:ext cx="284126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Nextail</a:t>
            </a:r>
            <a:endParaRPr lang="en-US" sz="1275"/>
          </a:p>
        </p:txBody>
      </p:sp>
      <p:sp>
        <p:nvSpPr>
          <p:cNvPr id="61" name="Shape 59"/>
          <p:cNvSpPr/>
          <p:nvPr/>
        </p:nvSpPr>
        <p:spPr>
          <a:xfrm>
            <a:off x="3779441" y="62353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2" name="Text 60"/>
          <p:cNvSpPr/>
          <p:nvPr/>
        </p:nvSpPr>
        <p:spPr>
          <a:xfrm>
            <a:off x="3912791" y="5879703"/>
            <a:ext cx="35320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retailers only</a:t>
            </a:r>
            <a:endParaRPr lang="en-US" sz="1275"/>
          </a:p>
        </p:txBody>
      </p:sp>
      <p:sp>
        <p:nvSpPr>
          <p:cNvPr id="63" name="Shape 61"/>
          <p:cNvSpPr/>
          <p:nvPr/>
        </p:nvSpPr>
        <p:spPr>
          <a:xfrm>
            <a:off x="7467501" y="62353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4" name="Text 62"/>
          <p:cNvSpPr/>
          <p:nvPr/>
        </p:nvSpPr>
        <p:spPr>
          <a:xfrm>
            <a:off x="7600851" y="5879703"/>
            <a:ext cx="35320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11155561" y="623530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6" name="Shape 64"/>
          <p:cNvSpPr/>
          <p:nvPr/>
        </p:nvSpPr>
        <p:spPr>
          <a:xfrm>
            <a:off x="11288910" y="5882878"/>
            <a:ext cx="1690489" cy="22225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7" name="Text 65"/>
          <p:cNvSpPr/>
          <p:nvPr/>
        </p:nvSpPr>
        <p:spPr>
          <a:xfrm>
            <a:off x="11384161" y="5900658"/>
            <a:ext cx="154867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5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VERTICAL</a:t>
            </a:r>
            <a:endParaRPr lang="en-US" sz="1200"/>
          </a:p>
        </p:txBody>
      </p:sp>
      <p:sp>
        <p:nvSpPr>
          <p:cNvPr id="68" name="Shape 66"/>
          <p:cNvSpPr/>
          <p:nvPr/>
        </p:nvSpPr>
        <p:spPr>
          <a:xfrm>
            <a:off x="14843622" y="6235303"/>
            <a:ext cx="268237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9" name="Text 67"/>
          <p:cNvSpPr/>
          <p:nvPr/>
        </p:nvSpPr>
        <p:spPr>
          <a:xfrm>
            <a:off x="14976972" y="5879703"/>
            <a:ext cx="24961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Apparel-only scope</a:t>
            </a:r>
            <a:endParaRPr lang="en-US" sz="1275"/>
          </a:p>
        </p:txBody>
      </p:sp>
      <p:sp>
        <p:nvSpPr>
          <p:cNvPr id="70" name="Shape 68"/>
          <p:cNvSpPr/>
          <p:nvPr/>
        </p:nvSpPr>
        <p:spPr>
          <a:xfrm>
            <a:off x="762000" y="6241653"/>
            <a:ext cx="3017441" cy="5016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1" name="Shape 69"/>
          <p:cNvSpPr/>
          <p:nvPr/>
        </p:nvSpPr>
        <p:spPr>
          <a:xfrm>
            <a:off x="762000" y="6736953"/>
            <a:ext cx="301744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2" name="Text 70"/>
          <p:cNvSpPr/>
          <p:nvPr/>
        </p:nvSpPr>
        <p:spPr>
          <a:xfrm>
            <a:off x="895350" y="6375003"/>
            <a:ext cx="28412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</a:t>
            </a:r>
            <a:endParaRPr lang="en-US" sz="1400"/>
          </a:p>
        </p:txBody>
      </p:sp>
      <p:sp>
        <p:nvSpPr>
          <p:cNvPr id="73" name="Shape 71"/>
          <p:cNvSpPr/>
          <p:nvPr/>
        </p:nvSpPr>
        <p:spPr>
          <a:xfrm>
            <a:off x="3779441" y="6241653"/>
            <a:ext cx="3688060" cy="5016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4" name="Shape 72"/>
          <p:cNvSpPr/>
          <p:nvPr/>
        </p:nvSpPr>
        <p:spPr>
          <a:xfrm>
            <a:off x="3779441" y="673695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5" name="Text 73"/>
          <p:cNvSpPr/>
          <p:nvPr/>
        </p:nvSpPr>
        <p:spPr>
          <a:xfrm>
            <a:off x="3912791" y="6375003"/>
            <a:ext cx="35320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50–500 store mid-market</a:t>
            </a:r>
            <a:endParaRPr lang="en-US" sz="1400"/>
          </a:p>
        </p:txBody>
      </p:sp>
      <p:sp>
        <p:nvSpPr>
          <p:cNvPr id="76" name="Shape 74"/>
          <p:cNvSpPr/>
          <p:nvPr/>
        </p:nvSpPr>
        <p:spPr>
          <a:xfrm>
            <a:off x="7467501" y="6241653"/>
            <a:ext cx="3688060" cy="5016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7" name="Shape 75"/>
          <p:cNvSpPr/>
          <p:nvPr/>
        </p:nvSpPr>
        <p:spPr>
          <a:xfrm>
            <a:off x="7467501" y="673695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8" name="Text 76"/>
          <p:cNvSpPr/>
          <p:nvPr/>
        </p:nvSpPr>
        <p:spPr>
          <a:xfrm>
            <a:off x="7600851" y="6375003"/>
            <a:ext cx="35320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€200–500 / store / mo</a:t>
            </a:r>
            <a:endParaRPr lang="en-US" sz="1400"/>
          </a:p>
        </p:txBody>
      </p:sp>
      <p:sp>
        <p:nvSpPr>
          <p:cNvPr id="79" name="Shape 77"/>
          <p:cNvSpPr/>
          <p:nvPr/>
        </p:nvSpPr>
        <p:spPr>
          <a:xfrm>
            <a:off x="11155561" y="6241653"/>
            <a:ext cx="3688060" cy="5016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0" name="Shape 78"/>
          <p:cNvSpPr/>
          <p:nvPr/>
        </p:nvSpPr>
        <p:spPr>
          <a:xfrm>
            <a:off x="11155561" y="6736953"/>
            <a:ext cx="368806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1" name="Shape 79"/>
          <p:cNvSpPr/>
          <p:nvPr/>
        </p:nvSpPr>
        <p:spPr>
          <a:xfrm>
            <a:off x="11288911" y="6384527"/>
            <a:ext cx="1969888" cy="257175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2" name="Text 80"/>
          <p:cNvSpPr/>
          <p:nvPr/>
        </p:nvSpPr>
        <p:spPr>
          <a:xfrm>
            <a:off x="11384160" y="6422628"/>
            <a:ext cx="1874639" cy="84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54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· CITED</a:t>
            </a:r>
            <a:endParaRPr lang="en-US" sz="1400"/>
          </a:p>
        </p:txBody>
      </p:sp>
      <p:sp>
        <p:nvSpPr>
          <p:cNvPr id="83" name="Shape 81"/>
          <p:cNvSpPr/>
          <p:nvPr/>
        </p:nvSpPr>
        <p:spPr>
          <a:xfrm>
            <a:off x="14843622" y="6241653"/>
            <a:ext cx="2682379" cy="5016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4" name="Shape 82"/>
          <p:cNvSpPr/>
          <p:nvPr/>
        </p:nvSpPr>
        <p:spPr>
          <a:xfrm>
            <a:off x="14843622" y="6736953"/>
            <a:ext cx="268237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5" name="Text 83"/>
          <p:cNvSpPr/>
          <p:nvPr/>
        </p:nvSpPr>
        <p:spPr>
          <a:xfrm>
            <a:off x="14976972" y="6375003"/>
            <a:ext cx="2496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Days, not months</a:t>
            </a:r>
            <a:endParaRPr lang="en-US" sz="1400"/>
          </a:p>
        </p:txBody>
      </p:sp>
      <p:sp>
        <p:nvSpPr>
          <p:cNvPr id="86" name="Text 84"/>
          <p:cNvSpPr/>
          <p:nvPr/>
        </p:nvSpPr>
        <p:spPr>
          <a:xfrm>
            <a:off x="1139619" y="7647623"/>
            <a:ext cx="55463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· 01</a:t>
            </a:r>
            <a:endParaRPr lang="en-US" sz="1300"/>
          </a:p>
        </p:txBody>
      </p:sp>
      <p:sp>
        <p:nvSpPr>
          <p:cNvPr id="87" name="Text 85"/>
          <p:cNvSpPr/>
          <p:nvPr/>
        </p:nvSpPr>
        <p:spPr>
          <a:xfrm>
            <a:off x="1139619" y="7876223"/>
            <a:ext cx="55463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Decisions, not dashboards.</a:t>
            </a:r>
            <a:endParaRPr lang="en-US" sz="1650"/>
          </a:p>
        </p:txBody>
      </p:sp>
      <p:sp>
        <p:nvSpPr>
          <p:cNvPr id="88" name="Text 86"/>
          <p:cNvSpPr/>
          <p:nvPr/>
        </p:nvSpPr>
        <p:spPr>
          <a:xfrm>
            <a:off x="6798056" y="7647623"/>
            <a:ext cx="55463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· 02</a:t>
            </a:r>
            <a:endParaRPr lang="en-US" sz="1300"/>
          </a:p>
        </p:txBody>
      </p:sp>
      <p:sp>
        <p:nvSpPr>
          <p:cNvPr id="89" name="Text 87"/>
          <p:cNvSpPr/>
          <p:nvPr/>
        </p:nvSpPr>
        <p:spPr>
          <a:xfrm>
            <a:off x="6798056" y="7876223"/>
            <a:ext cx="55463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priced, no procurement committee.</a:t>
            </a:r>
            <a:endParaRPr lang="en-US" sz="1650"/>
          </a:p>
        </p:txBody>
      </p:sp>
      <p:sp>
        <p:nvSpPr>
          <p:cNvPr id="90" name="Text 88"/>
          <p:cNvSpPr/>
          <p:nvPr/>
        </p:nvSpPr>
        <p:spPr>
          <a:xfrm>
            <a:off x="12589256" y="7631748"/>
            <a:ext cx="55463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b="1" kern="0" spc="14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· 03</a:t>
            </a:r>
            <a:endParaRPr lang="en-US" sz="1300"/>
          </a:p>
        </p:txBody>
      </p:sp>
      <p:sp>
        <p:nvSpPr>
          <p:cNvPr id="91" name="Text 89"/>
          <p:cNvSpPr/>
          <p:nvPr/>
        </p:nvSpPr>
        <p:spPr>
          <a:xfrm>
            <a:off x="12589256" y="7860348"/>
            <a:ext cx="55463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CSV-to-briefing in days, not 12-month integrations.</a:t>
            </a:r>
            <a:endParaRPr lang="en-US" sz="1650"/>
          </a:p>
        </p:txBody>
      </p:sp>
      <p:sp>
        <p:nvSpPr>
          <p:cNvPr id="92" name="Shape 9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3" name="Text 91"/>
          <p:cNvSpPr/>
          <p:nvPr/>
        </p:nvSpPr>
        <p:spPr>
          <a:xfrm>
            <a:off x="762000" y="9950451"/>
            <a:ext cx="492029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vendor websites; analyst reports; MerchAI competitive scan April 2026</a:t>
            </a:r>
            <a:endParaRPr lang="en-US" sz="975"/>
          </a:p>
        </p:txBody>
      </p:sp>
      <p:sp>
        <p:nvSpPr>
          <p:cNvPr id="94" name="Text 92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975"/>
          </a:p>
        </p:txBody>
      </p:sp>
      <p:pic>
        <p:nvPicPr>
          <p:cNvPr id="96" name="Picture 33">
            <a:extLst>
              <a:ext uri="{FF2B5EF4-FFF2-40B4-BE49-F238E27FC236}">
                <a16:creationId xmlns:a16="http://schemas.microsoft.com/office/drawing/2014/main" id="{E8B5D445-CCFB-6A3D-AE27-3F7BA4B65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103" name="Shape 31">
            <a:extLst>
              <a:ext uri="{FF2B5EF4-FFF2-40B4-BE49-F238E27FC236}">
                <a16:creationId xmlns:a16="http://schemas.microsoft.com/office/drawing/2014/main" id="{257AD000-9308-801F-B06C-EA2A2B1554BF}"/>
              </a:ext>
            </a:extLst>
          </p:cNvPr>
          <p:cNvSpPr/>
          <p:nvPr/>
        </p:nvSpPr>
        <p:spPr>
          <a:xfrm>
            <a:off x="11288911" y="4916091"/>
            <a:ext cx="1360289" cy="22225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4" name="Text 32">
            <a:extLst>
              <a:ext uri="{FF2B5EF4-FFF2-40B4-BE49-F238E27FC236}">
                <a16:creationId xmlns:a16="http://schemas.microsoft.com/office/drawing/2014/main" id="{38AA3C86-C7CB-8359-1AB7-86F3A06E99A2}"/>
              </a:ext>
            </a:extLst>
          </p:cNvPr>
          <p:cNvSpPr/>
          <p:nvPr/>
        </p:nvSpPr>
        <p:spPr>
          <a:xfrm>
            <a:off x="11384161" y="4903391"/>
            <a:ext cx="12268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5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200"/>
          </a:p>
        </p:txBody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60E26CB4-746A-D07C-BB79-F74376F69611}"/>
              </a:ext>
            </a:extLst>
          </p:cNvPr>
          <p:cNvSpPr/>
          <p:nvPr/>
        </p:nvSpPr>
        <p:spPr>
          <a:xfrm>
            <a:off x="11288911" y="5402527"/>
            <a:ext cx="1360289" cy="222250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6" name="Text 32">
            <a:extLst>
              <a:ext uri="{FF2B5EF4-FFF2-40B4-BE49-F238E27FC236}">
                <a16:creationId xmlns:a16="http://schemas.microsoft.com/office/drawing/2014/main" id="{CD7382CC-2042-6492-42C3-D005CF3AB1BB}"/>
              </a:ext>
            </a:extLst>
          </p:cNvPr>
          <p:cNvSpPr/>
          <p:nvPr/>
        </p:nvSpPr>
        <p:spPr>
          <a:xfrm>
            <a:off x="11384161" y="5389827"/>
            <a:ext cx="12268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5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200"/>
          </a:p>
        </p:txBody>
      </p:sp>
      <p:sp>
        <p:nvSpPr>
          <p:cNvPr id="101" name="Text 4">
            <a:extLst>
              <a:ext uri="{FF2B5EF4-FFF2-40B4-BE49-F238E27FC236}">
                <a16:creationId xmlns:a16="http://schemas.microsoft.com/office/drawing/2014/main" id="{8C15FD40-A90C-9148-6E59-F15F566F36BA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09· COMPETITION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93692" y="222250"/>
            <a:ext cx="72704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 &amp; MOAT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compounding moats -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which OpenAI can replicate as a feature.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 doesn't rest on any single feature. It rests on three structural advantages that accrue with usage.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2000" y="3736578"/>
            <a:ext cx="5384800" cy="4632722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1035050" y="4847828"/>
            <a:ext cx="49838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</a:t>
            </a:r>
            <a:r>
              <a:rPr lang="en-US" sz="1200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035050" y="5127228"/>
            <a:ext cx="4983861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Data Flywheel</a:t>
            </a:r>
            <a:endParaRPr lang="en-US" sz="2100"/>
          </a:p>
        </p:txBody>
      </p:sp>
      <p:sp>
        <p:nvSpPr>
          <p:cNvPr id="16" name="Text 13"/>
          <p:cNvSpPr/>
          <p:nvPr/>
        </p:nvSpPr>
        <p:spPr>
          <a:xfrm>
            <a:off x="1035050" y="5586313"/>
            <a:ext cx="4983861" cy="2489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accept / reject / modify is logged with the underlying data snapshot. By Year 3, recommendations are calibrated to that chain's seasonal patterns and buyer preferences. No competitor can replicate </a:t>
            </a: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 of decision history </a:t>
            </a: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running the product for 3 years.</a:t>
            </a:r>
            <a:endParaRPr lang="en-US" sz="1400"/>
          </a:p>
        </p:txBody>
      </p:sp>
      <p:sp>
        <p:nvSpPr>
          <p:cNvPr id="17" name="Shape 14"/>
          <p:cNvSpPr/>
          <p:nvPr/>
        </p:nvSpPr>
        <p:spPr>
          <a:xfrm>
            <a:off x="1035050" y="7654474"/>
            <a:ext cx="48387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5"/>
          <p:cNvSpPr/>
          <p:nvPr/>
        </p:nvSpPr>
        <p:spPr>
          <a:xfrm>
            <a:off x="1035050" y="7883972"/>
            <a:ext cx="49838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USAGE</a:t>
            </a:r>
            <a:endParaRPr lang="en-US" sz="1400"/>
          </a:p>
        </p:txBody>
      </p:sp>
      <p:sp>
        <p:nvSpPr>
          <p:cNvPr id="19" name="Shape 16"/>
          <p:cNvSpPr/>
          <p:nvPr/>
        </p:nvSpPr>
        <p:spPr>
          <a:xfrm>
            <a:off x="6451600" y="3736578"/>
            <a:ext cx="5384800" cy="4632722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18"/>
          <p:cNvSpPr/>
          <p:nvPr/>
        </p:nvSpPr>
        <p:spPr>
          <a:xfrm>
            <a:off x="6724650" y="4847828"/>
            <a:ext cx="49838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02</a:t>
            </a:r>
            <a:endParaRPr lang="en-US" sz="1400"/>
          </a:p>
        </p:txBody>
      </p:sp>
      <p:sp>
        <p:nvSpPr>
          <p:cNvPr id="23" name="Text 19"/>
          <p:cNvSpPr/>
          <p:nvPr/>
        </p:nvSpPr>
        <p:spPr>
          <a:xfrm>
            <a:off x="6724650" y="5127228"/>
            <a:ext cx="4983861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Embedment</a:t>
            </a:r>
            <a:endParaRPr lang="en-US" sz="2100"/>
          </a:p>
        </p:txBody>
      </p:sp>
      <p:sp>
        <p:nvSpPr>
          <p:cNvPr id="24" name="Text 20"/>
          <p:cNvSpPr/>
          <p:nvPr/>
        </p:nvSpPr>
        <p:spPr>
          <a:xfrm>
            <a:off x="6724650" y="5586314"/>
            <a:ext cx="498386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briefing becomes the manager's routine - the screen they open before the coffee is poured. Switching means </a:t>
            </a: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a process </a:t>
            </a: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swapping software. That is operational switching cost, not technical.</a:t>
            </a:r>
            <a:endParaRPr lang="en-US" sz="1400"/>
          </a:p>
        </p:txBody>
      </p:sp>
      <p:sp>
        <p:nvSpPr>
          <p:cNvPr id="25" name="Shape 21"/>
          <p:cNvSpPr/>
          <p:nvPr/>
        </p:nvSpPr>
        <p:spPr>
          <a:xfrm>
            <a:off x="6724650" y="7654474"/>
            <a:ext cx="48387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2"/>
          <p:cNvSpPr/>
          <p:nvPr/>
        </p:nvSpPr>
        <p:spPr>
          <a:xfrm>
            <a:off x="6724650" y="7883972"/>
            <a:ext cx="49838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SWITCHING COST</a:t>
            </a:r>
            <a:endParaRPr lang="en-US" sz="1400"/>
          </a:p>
        </p:txBody>
      </p:sp>
      <p:sp>
        <p:nvSpPr>
          <p:cNvPr id="27" name="Shape 23"/>
          <p:cNvSpPr/>
          <p:nvPr/>
        </p:nvSpPr>
        <p:spPr>
          <a:xfrm>
            <a:off x="12141201" y="3736578"/>
            <a:ext cx="5384800" cy="4632722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5"/>
          <p:cNvSpPr/>
          <p:nvPr/>
        </p:nvSpPr>
        <p:spPr>
          <a:xfrm>
            <a:off x="12414250" y="4847828"/>
            <a:ext cx="49838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03</a:t>
            </a:r>
            <a:endParaRPr lang="en-US" sz="1400"/>
          </a:p>
        </p:txBody>
      </p:sp>
      <p:sp>
        <p:nvSpPr>
          <p:cNvPr id="31" name="Text 26"/>
          <p:cNvSpPr/>
          <p:nvPr/>
        </p:nvSpPr>
        <p:spPr>
          <a:xfrm>
            <a:off x="12414250" y="5127228"/>
            <a:ext cx="4983861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Integration Depth</a:t>
            </a:r>
            <a:endParaRPr lang="en-US" sz="2100"/>
          </a:p>
        </p:txBody>
      </p:sp>
      <p:sp>
        <p:nvSpPr>
          <p:cNvPr id="32" name="Text 27"/>
          <p:cNvSpPr/>
          <p:nvPr/>
        </p:nvSpPr>
        <p:spPr>
          <a:xfrm>
            <a:off x="12414250" y="5586314"/>
            <a:ext cx="4983861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 </a:t>
            </a:r>
            <a:r>
              <a:rPr lang="en-US" sz="1400" i="1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</a:t>
            </a: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retailer's transaction data, SKU catalogue, and price history. OpenAI has no access and </a:t>
            </a:r>
            <a:r>
              <a:rPr lang="en-US" sz="14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incentive to build 1-to-1 ERP connectors </a:t>
            </a:r>
            <a:r>
              <a:rPr lang="en-US" sz="14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data layer is the product, not the LLM.</a:t>
            </a:r>
            <a:endParaRPr lang="en-US" sz="1400"/>
          </a:p>
        </p:txBody>
      </p:sp>
      <p:sp>
        <p:nvSpPr>
          <p:cNvPr id="33" name="Shape 28"/>
          <p:cNvSpPr/>
          <p:nvPr/>
        </p:nvSpPr>
        <p:spPr>
          <a:xfrm>
            <a:off x="12414250" y="7654474"/>
            <a:ext cx="48387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29"/>
          <p:cNvSpPr/>
          <p:nvPr/>
        </p:nvSpPr>
        <p:spPr>
          <a:xfrm>
            <a:off x="12414250" y="7883972"/>
            <a:ext cx="49838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· NOT FEATURE-LEVEL</a:t>
            </a:r>
            <a:endParaRPr lang="en-US" sz="1400"/>
          </a:p>
        </p:txBody>
      </p:sp>
      <p:sp>
        <p:nvSpPr>
          <p:cNvPr id="35" name="Shape 3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1"/>
          <p:cNvSpPr/>
          <p:nvPr/>
        </p:nvSpPr>
        <p:spPr>
          <a:xfrm>
            <a:off x="762000" y="9950451"/>
            <a:ext cx="416905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"Wrapper risk" check: each moat is structural, not LLM-feature-level</a:t>
            </a:r>
            <a:endParaRPr lang="en-US" sz="975"/>
          </a:p>
        </p:txBody>
      </p:sp>
      <p:sp>
        <p:nvSpPr>
          <p:cNvPr id="37" name="Text 32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/>
          </a:p>
        </p:txBody>
      </p:sp>
      <p:pic>
        <p:nvPicPr>
          <p:cNvPr id="38" name="Picture 33">
            <a:extLst>
              <a:ext uri="{FF2B5EF4-FFF2-40B4-BE49-F238E27FC236}">
                <a16:creationId xmlns:a16="http://schemas.microsoft.com/office/drawing/2014/main" id="{AF20AF0C-8856-5A50-A76C-76470CAED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pic>
        <p:nvPicPr>
          <p:cNvPr id="39" name="Graphic 38" descr="Fork In Road outline">
            <a:extLst>
              <a:ext uri="{FF2B5EF4-FFF2-40B4-BE49-F238E27FC236}">
                <a16:creationId xmlns:a16="http://schemas.microsoft.com/office/drawing/2014/main" id="{39B46AB2-5B8B-9D4E-04B3-9BF36D052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773" y="3819128"/>
            <a:ext cx="914400" cy="914400"/>
          </a:xfrm>
          <a:prstGeom prst="rect">
            <a:avLst/>
          </a:prstGeom>
        </p:spPr>
      </p:pic>
      <p:pic>
        <p:nvPicPr>
          <p:cNvPr id="41" name="Graphic 40" descr="Puzzle pieces outline">
            <a:extLst>
              <a:ext uri="{FF2B5EF4-FFF2-40B4-BE49-F238E27FC236}">
                <a16:creationId xmlns:a16="http://schemas.microsoft.com/office/drawing/2014/main" id="{0C30D9CD-23BA-71FE-E730-0106E4F5B1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1787" y="3855470"/>
            <a:ext cx="914400" cy="914400"/>
          </a:xfrm>
          <a:prstGeom prst="rect">
            <a:avLst/>
          </a:prstGeom>
        </p:spPr>
      </p:pic>
      <p:pic>
        <p:nvPicPr>
          <p:cNvPr id="43" name="Graphic 42" descr="Database outline">
            <a:extLst>
              <a:ext uri="{FF2B5EF4-FFF2-40B4-BE49-F238E27FC236}">
                <a16:creationId xmlns:a16="http://schemas.microsoft.com/office/drawing/2014/main" id="{DBC3F77A-FF2D-5914-5976-19192A0F82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65536" y="3864913"/>
            <a:ext cx="914400" cy="914400"/>
          </a:xfrm>
          <a:prstGeom prst="rect">
            <a:avLst/>
          </a:prstGeom>
        </p:spPr>
      </p:pic>
      <p:sp>
        <p:nvSpPr>
          <p:cNvPr id="40" name="Text 4">
            <a:extLst>
              <a:ext uri="{FF2B5EF4-FFF2-40B4-BE49-F238E27FC236}">
                <a16:creationId xmlns:a16="http://schemas.microsoft.com/office/drawing/2014/main" id="{3B46673C-FC33-3A59-BE1F-194D470D62E0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DEFENSIBILITY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7025342" y="222250"/>
            <a:ext cx="5768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design partners in six months.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paying chains by Month 18.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path from free pilot to ERP channel partnership.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762000" y="3736578"/>
            <a:ext cx="5588000" cy="3151981"/>
          </a:xfrm>
          <a:prstGeom prst="rect">
            <a:avLst/>
          </a:prstGeom>
          <a:solidFill>
            <a:srgbClr val="E8F1FF"/>
          </a:solidFill>
          <a:ln w="6350">
            <a:noFill/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1073150" y="4047728"/>
            <a:ext cx="51146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 · MONTHS 1 – 6</a:t>
            </a:r>
            <a:endParaRPr lang="en-US" sz="975"/>
          </a:p>
        </p:txBody>
      </p:sp>
      <p:sp>
        <p:nvSpPr>
          <p:cNvPr id="13" name="Text 11"/>
          <p:cNvSpPr/>
          <p:nvPr/>
        </p:nvSpPr>
        <p:spPr>
          <a:xfrm>
            <a:off x="1073150" y="4327128"/>
            <a:ext cx="511467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</a:t>
            </a:r>
            <a:endParaRPr lang="en-US" sz="19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2221" y="4777978"/>
            <a:ext cx="5115600" cy="152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kern="0" spc="-6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pilot · co-development access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400" kern="0" spc="-6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CSV-based POS integration · no ERP yet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400" kern="0" spc="-6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intros + LinkedIn outreach to CMOs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400" kern="0" spc="-6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partners in apparel or sporting goods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3150" y="6412310"/>
            <a:ext cx="51146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· 60% manager adoption rate</a:t>
            </a:r>
            <a:endParaRPr lang="en-US" sz="97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50000" y="6882210"/>
            <a:ext cx="55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6350000" y="3736578"/>
            <a:ext cx="55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11931650" y="3736578"/>
            <a:ext cx="9525" cy="3151981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6654800" y="4047728"/>
            <a:ext cx="51212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 · MONTHS 7 – 18</a:t>
            </a:r>
            <a:endParaRPr lang="en-US" sz="975"/>
          </a:p>
        </p:txBody>
      </p:sp>
      <p:sp>
        <p:nvSpPr>
          <p:cNvPr id="20" name="Text 18"/>
          <p:cNvSpPr/>
          <p:nvPr/>
        </p:nvSpPr>
        <p:spPr>
          <a:xfrm>
            <a:off x="6654800" y="4327128"/>
            <a:ext cx="512121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Commercialisation</a:t>
            </a:r>
            <a:endParaRPr lang="en-US" sz="19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53212" y="4777978"/>
            <a:ext cx="5122800" cy="152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design partners to paid contracts</a:t>
            </a:r>
            <a:endParaRPr lang="en-US" sz="12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paying chains acquired via case study</a:t>
            </a:r>
            <a:endParaRPr lang="en-US" sz="12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connector v1 (SAP, Microsoft Dynamics)</a:t>
            </a:r>
            <a:endParaRPr lang="en-US" sz="12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€200–500 / store / month tiered pricing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654800" y="6412310"/>
            <a:ext cx="51212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· 4:1 ROI documented in pilot chain</a:t>
            </a:r>
            <a:endParaRPr lang="en-US" sz="975"/>
          </a:p>
        </p:txBody>
      </p:sp>
      <p:sp>
        <p:nvSpPr>
          <p:cNvPr id="23" name="Shape 21"/>
          <p:cNvSpPr/>
          <p:nvPr/>
        </p:nvSpPr>
        <p:spPr>
          <a:xfrm>
            <a:off x="11938000" y="6882210"/>
            <a:ext cx="55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11938000" y="3736578"/>
            <a:ext cx="55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17519651" y="3736578"/>
            <a:ext cx="9525" cy="3151981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12242800" y="4047728"/>
            <a:ext cx="51212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98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 · MONTHS 19 – 36</a:t>
            </a:r>
            <a:endParaRPr lang="en-US" sz="975"/>
          </a:p>
        </p:txBody>
      </p:sp>
      <p:sp>
        <p:nvSpPr>
          <p:cNvPr id="27" name="Text 25"/>
          <p:cNvSpPr/>
          <p:nvPr/>
        </p:nvSpPr>
        <p:spPr>
          <a:xfrm>
            <a:off x="12242800" y="4327128"/>
            <a:ext cx="512121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95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241212" y="4777978"/>
            <a:ext cx="5122800" cy="1520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vendor channel partnerships</a:t>
            </a:r>
            <a:endParaRPr lang="en-US" sz="12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 + Benelux geographic expansion</a:t>
            </a:r>
            <a:endParaRPr lang="en-US" sz="12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</a:t>
            </a:r>
            <a:endParaRPr lang="en-US" sz="120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AE hires; founder transitions to pipeline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12242800" y="6412310"/>
            <a:ext cx="51212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· 3,000 stores · €900k MRR</a:t>
            </a:r>
            <a:endParaRPr lang="en-US" sz="975"/>
          </a:p>
        </p:txBody>
      </p:sp>
      <p:sp>
        <p:nvSpPr>
          <p:cNvPr id="30" name="Text 28"/>
          <p:cNvSpPr/>
          <p:nvPr/>
        </p:nvSpPr>
        <p:spPr>
          <a:xfrm>
            <a:off x="762000" y="8883650"/>
            <a:ext cx="41401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4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762000" y="9074150"/>
            <a:ext cx="414013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6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partners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10150" y="8883650"/>
            <a:ext cx="41401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4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5010150" y="9074150"/>
            <a:ext cx="414013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6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paid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258300" y="8883650"/>
            <a:ext cx="41401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4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9258300" y="9074150"/>
            <a:ext cx="414013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6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chains</a:t>
            </a:r>
            <a:endParaRPr 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506450" y="8883650"/>
            <a:ext cx="414013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44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13506450" y="9074150"/>
            <a:ext cx="414013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stores</a:t>
            </a:r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>
            <a:off x="762000" y="9950451"/>
            <a:ext cx="41259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v1.2 · subject to pilot learning · founder-led through Month 12</a:t>
            </a:r>
            <a:endParaRPr lang="en-US" sz="975"/>
          </a:p>
        </p:txBody>
      </p:sp>
      <p:sp>
        <p:nvSpPr>
          <p:cNvPr id="40" name="Text 38"/>
          <p:cNvSpPr/>
          <p:nvPr/>
        </p:nvSpPr>
        <p:spPr>
          <a:xfrm>
            <a:off x="17387491" y="9950451"/>
            <a:ext cx="21470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/>
          </a:p>
        </p:txBody>
      </p:sp>
      <p:pic>
        <p:nvPicPr>
          <p:cNvPr id="42" name="Picture 33">
            <a:extLst>
              <a:ext uri="{FF2B5EF4-FFF2-40B4-BE49-F238E27FC236}">
                <a16:creationId xmlns:a16="http://schemas.microsoft.com/office/drawing/2014/main" id="{EEEF869E-852D-9837-769F-08EB7897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43" name="Text 4">
            <a:extLst>
              <a:ext uri="{FF2B5EF4-FFF2-40B4-BE49-F238E27FC236}">
                <a16:creationId xmlns:a16="http://schemas.microsoft.com/office/drawing/2014/main" id="{73E27D16-778A-D044-F52C-238C3F323496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GO TO MARKET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6998652" y="222250"/>
            <a:ext cx="10302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THE ASK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builders. One product.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find our first design partner.</a:t>
            </a:r>
            <a:endParaRPr lang="en-US" sz="4200"/>
          </a:p>
        </p:txBody>
      </p:sp>
      <p:sp>
        <p:nvSpPr>
          <p:cNvPr id="10" name="Shape 8"/>
          <p:cNvSpPr/>
          <p:nvPr/>
        </p:nvSpPr>
        <p:spPr>
          <a:xfrm>
            <a:off x="762000" y="34571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62000" y="31650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62000" y="3654028"/>
            <a:ext cx="1106984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762000" y="4000103"/>
            <a:ext cx="1106984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895350" y="3768328"/>
            <a:ext cx="916484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825"/>
          </a:p>
        </p:txBody>
      </p:sp>
      <p:sp>
        <p:nvSpPr>
          <p:cNvPr id="15" name="Shape 13"/>
          <p:cNvSpPr/>
          <p:nvPr/>
        </p:nvSpPr>
        <p:spPr>
          <a:xfrm>
            <a:off x="1868984" y="3654028"/>
            <a:ext cx="1455440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1868984" y="4000103"/>
            <a:ext cx="145544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2002334" y="3768328"/>
            <a:ext cx="1264940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825"/>
          </a:p>
        </p:txBody>
      </p:sp>
      <p:sp>
        <p:nvSpPr>
          <p:cNvPr id="18" name="Shape 16"/>
          <p:cNvSpPr/>
          <p:nvPr/>
        </p:nvSpPr>
        <p:spPr>
          <a:xfrm>
            <a:off x="3324424" y="3654028"/>
            <a:ext cx="5514777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3324424" y="4000103"/>
            <a:ext cx="5514777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3457774" y="3768328"/>
            <a:ext cx="5413520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</a:t>
            </a:r>
            <a:endParaRPr lang="en-US" sz="825"/>
          </a:p>
        </p:txBody>
      </p:sp>
      <p:sp>
        <p:nvSpPr>
          <p:cNvPr id="21" name="Shape 19"/>
          <p:cNvSpPr/>
          <p:nvPr/>
        </p:nvSpPr>
        <p:spPr>
          <a:xfrm>
            <a:off x="762000" y="4489053"/>
            <a:ext cx="110698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895350" y="4152503"/>
            <a:ext cx="91648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Leticia</a:t>
            </a:r>
            <a:endParaRPr lang="en-US" sz="1275"/>
          </a:p>
        </p:txBody>
      </p:sp>
      <p:sp>
        <p:nvSpPr>
          <p:cNvPr id="23" name="Shape 21"/>
          <p:cNvSpPr/>
          <p:nvPr/>
        </p:nvSpPr>
        <p:spPr>
          <a:xfrm>
            <a:off x="1868984" y="4489053"/>
            <a:ext cx="14554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2002334" y="4152503"/>
            <a:ext cx="12649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275"/>
          </a:p>
        </p:txBody>
      </p:sp>
      <p:sp>
        <p:nvSpPr>
          <p:cNvPr id="25" name="Shape 23"/>
          <p:cNvSpPr/>
          <p:nvPr/>
        </p:nvSpPr>
        <p:spPr>
          <a:xfrm>
            <a:off x="3324424" y="4489053"/>
            <a:ext cx="551477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3457774" y="4152503"/>
            <a:ext cx="541352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pipeline · WRMSSE 0.74 · feature engineering on 5.8M rows</a:t>
            </a:r>
            <a:endParaRPr lang="en-US" sz="1275"/>
          </a:p>
        </p:txBody>
      </p:sp>
      <p:sp>
        <p:nvSpPr>
          <p:cNvPr id="27" name="Shape 25"/>
          <p:cNvSpPr/>
          <p:nvPr/>
        </p:nvSpPr>
        <p:spPr>
          <a:xfrm>
            <a:off x="762000" y="4958953"/>
            <a:ext cx="110698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895350" y="4628753"/>
            <a:ext cx="91648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Justus</a:t>
            </a:r>
            <a:endParaRPr lang="en-US" sz="1275"/>
          </a:p>
        </p:txBody>
      </p:sp>
      <p:sp>
        <p:nvSpPr>
          <p:cNvPr id="29" name="Shape 27"/>
          <p:cNvSpPr/>
          <p:nvPr/>
        </p:nvSpPr>
        <p:spPr>
          <a:xfrm>
            <a:off x="1868984" y="4958953"/>
            <a:ext cx="14554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2002334" y="4628753"/>
            <a:ext cx="12649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&amp; RAG</a:t>
            </a:r>
            <a:endParaRPr lang="en-US" sz="1275"/>
          </a:p>
        </p:txBody>
      </p:sp>
      <p:sp>
        <p:nvSpPr>
          <p:cNvPr id="31" name="Shape 29"/>
          <p:cNvSpPr/>
          <p:nvPr/>
        </p:nvSpPr>
        <p:spPr>
          <a:xfrm>
            <a:off x="3324424" y="4958953"/>
            <a:ext cx="551477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3457774" y="4628753"/>
            <a:ext cx="541352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integration · ChromaDB context store · prompt architecture</a:t>
            </a:r>
            <a:endParaRPr lang="en-US" sz="1275"/>
          </a:p>
        </p:txBody>
      </p:sp>
      <p:sp>
        <p:nvSpPr>
          <p:cNvPr id="33" name="Shape 31"/>
          <p:cNvSpPr/>
          <p:nvPr/>
        </p:nvSpPr>
        <p:spPr>
          <a:xfrm>
            <a:off x="762000" y="5428853"/>
            <a:ext cx="110698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895350" y="5098653"/>
            <a:ext cx="91648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</a:t>
            </a:r>
            <a:endParaRPr lang="en-US" sz="1275"/>
          </a:p>
        </p:txBody>
      </p:sp>
      <p:sp>
        <p:nvSpPr>
          <p:cNvPr id="35" name="Shape 33"/>
          <p:cNvSpPr/>
          <p:nvPr/>
        </p:nvSpPr>
        <p:spPr>
          <a:xfrm>
            <a:off x="1868984" y="5428853"/>
            <a:ext cx="14554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2002334" y="5098653"/>
            <a:ext cx="12649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UX</a:t>
            </a:r>
            <a:endParaRPr lang="en-US" sz="1275"/>
          </a:p>
        </p:txBody>
      </p:sp>
      <p:sp>
        <p:nvSpPr>
          <p:cNvPr id="37" name="Shape 35"/>
          <p:cNvSpPr/>
          <p:nvPr/>
        </p:nvSpPr>
        <p:spPr>
          <a:xfrm>
            <a:off x="3324424" y="5428853"/>
            <a:ext cx="551477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3457774" y="5098653"/>
            <a:ext cx="541352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briefing UI · confidence badges · Ask-Your-Data interface</a:t>
            </a:r>
            <a:endParaRPr lang="en-US" sz="1275"/>
          </a:p>
        </p:txBody>
      </p:sp>
      <p:sp>
        <p:nvSpPr>
          <p:cNvPr id="39" name="Shape 37"/>
          <p:cNvSpPr/>
          <p:nvPr/>
        </p:nvSpPr>
        <p:spPr>
          <a:xfrm>
            <a:off x="762000" y="5898753"/>
            <a:ext cx="110698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895350" y="5568553"/>
            <a:ext cx="91648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Alexander</a:t>
            </a:r>
            <a:endParaRPr lang="en-US" sz="1275"/>
          </a:p>
        </p:txBody>
      </p:sp>
      <p:sp>
        <p:nvSpPr>
          <p:cNvPr id="41" name="Shape 39"/>
          <p:cNvSpPr/>
          <p:nvPr/>
        </p:nvSpPr>
        <p:spPr>
          <a:xfrm>
            <a:off x="1868984" y="5898753"/>
            <a:ext cx="145544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2002334" y="5568553"/>
            <a:ext cx="12649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/ GTM</a:t>
            </a:r>
            <a:endParaRPr lang="en-US" sz="1275"/>
          </a:p>
        </p:txBody>
      </p:sp>
      <p:sp>
        <p:nvSpPr>
          <p:cNvPr id="43" name="Shape 41"/>
          <p:cNvSpPr/>
          <p:nvPr/>
        </p:nvSpPr>
        <p:spPr>
          <a:xfrm>
            <a:off x="3324424" y="5898753"/>
            <a:ext cx="551477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/>
          <p:nvPr/>
        </p:nvSpPr>
        <p:spPr>
          <a:xfrm>
            <a:off x="3457774" y="5568553"/>
            <a:ext cx="541352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 · unit economics · design-partner outreach</a:t>
            </a:r>
            <a:endParaRPr lang="en-US" sz="1275"/>
          </a:p>
        </p:txBody>
      </p:sp>
      <p:sp>
        <p:nvSpPr>
          <p:cNvPr id="45" name="Text 43"/>
          <p:cNvSpPr/>
          <p:nvPr/>
        </p:nvSpPr>
        <p:spPr>
          <a:xfrm>
            <a:off x="762000" y="6213078"/>
            <a:ext cx="831951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2758-T4 Advanced Topics in Machine Learning · Nova SBE · April 2026. Prototype shipped end-to-end within the project window.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9448800" y="34571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7" name="Text 45"/>
          <p:cNvSpPr/>
          <p:nvPr/>
        </p:nvSpPr>
        <p:spPr>
          <a:xfrm>
            <a:off x="9448800" y="31650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/>
          </a:p>
        </p:txBody>
      </p:sp>
      <p:sp>
        <p:nvSpPr>
          <p:cNvPr id="48" name="Shape 46"/>
          <p:cNvSpPr/>
          <p:nvPr/>
        </p:nvSpPr>
        <p:spPr>
          <a:xfrm>
            <a:off x="9448800" y="3654028"/>
            <a:ext cx="8077200" cy="3827066"/>
          </a:xfrm>
          <a:prstGeom prst="rect">
            <a:avLst/>
          </a:prstGeom>
          <a:solidFill>
            <a:srgbClr val="E8F1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9" name="Text 47"/>
          <p:cNvSpPr/>
          <p:nvPr/>
        </p:nvSpPr>
        <p:spPr>
          <a:xfrm>
            <a:off x="9906000" y="4111228"/>
            <a:ext cx="737768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FROM YOU TODAY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9906000" y="5382419"/>
            <a:ext cx="7162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1" name="Text 49"/>
          <p:cNvSpPr/>
          <p:nvPr/>
        </p:nvSpPr>
        <p:spPr>
          <a:xfrm>
            <a:off x="9906000" y="4460478"/>
            <a:ext cx="7377684" cy="82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4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MID-SIZE RETAIL CHAIN. 90 DAYS. THEIR POS DATA.</a:t>
            </a:r>
            <a:endParaRPr lang="en-US" sz="2700"/>
          </a:p>
        </p:txBody>
      </p:sp>
      <p:sp>
        <p:nvSpPr>
          <p:cNvPr id="52" name="Text 50"/>
          <p:cNvSpPr/>
          <p:nvPr/>
        </p:nvSpPr>
        <p:spPr>
          <a:xfrm>
            <a:off x="9906000" y="5579269"/>
            <a:ext cx="737768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kern="0" spc="-6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exchange: a working daily briefing system on their own data, full co-development input on the roadmap, and a measurable margin-improvement target inside the pilot window.</a:t>
            </a:r>
            <a:endParaRPr lang="en-US" sz="142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9906000" y="6426994"/>
            <a:ext cx="85754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700"/>
          </a:p>
        </p:txBody>
      </p:sp>
      <p:sp>
        <p:nvSpPr>
          <p:cNvPr id="54" name="Text 52"/>
          <p:cNvSpPr/>
          <p:nvPr/>
        </p:nvSpPr>
        <p:spPr>
          <a:xfrm>
            <a:off x="9906000" y="6877844"/>
            <a:ext cx="85754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17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PILOT</a:t>
            </a:r>
            <a:endParaRPr lang="en-US" sz="97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068348" y="6426994"/>
            <a:ext cx="85288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endParaRPr lang="en-US" sz="2700"/>
          </a:p>
        </p:txBody>
      </p:sp>
      <p:sp>
        <p:nvSpPr>
          <p:cNvPr id="56" name="Text 54"/>
          <p:cNvSpPr/>
          <p:nvPr/>
        </p:nvSpPr>
        <p:spPr>
          <a:xfrm>
            <a:off x="11068348" y="6877844"/>
            <a:ext cx="85288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17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FEE</a:t>
            </a:r>
            <a:endParaRPr lang="en-US" sz="97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12226033" y="6426994"/>
            <a:ext cx="98226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: 1</a:t>
            </a:r>
            <a:endParaRPr lang="en-US" sz="2700"/>
          </a:p>
        </p:txBody>
      </p:sp>
      <p:sp>
        <p:nvSpPr>
          <p:cNvPr id="58" name="Text 56"/>
          <p:cNvSpPr/>
          <p:nvPr/>
        </p:nvSpPr>
        <p:spPr>
          <a:xfrm>
            <a:off x="12226033" y="6877844"/>
            <a:ext cx="98226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17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TARGET</a:t>
            </a:r>
            <a:endParaRPr lang="en-US" sz="97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9448800" y="7671594"/>
            <a:ext cx="83195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Intros welcome - DACH, Benelux, Iberia. Apparel · footwear · sporting goods · home · grocery.</a:t>
            </a:r>
            <a:endParaRPr lang="en-US" sz="1200"/>
          </a:p>
        </p:txBody>
      </p:sp>
      <p:sp>
        <p:nvSpPr>
          <p:cNvPr id="60" name="Shape 5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1" name="Text 59"/>
          <p:cNvSpPr/>
          <p:nvPr/>
        </p:nvSpPr>
        <p:spPr>
          <a:xfrm>
            <a:off x="762000" y="9950451"/>
            <a:ext cx="316519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Q&amp;A · merchai.io · contact@merchai.io</a:t>
            </a:r>
            <a:endParaRPr lang="en-US" sz="975"/>
          </a:p>
        </p:txBody>
      </p:sp>
      <p:sp>
        <p:nvSpPr>
          <p:cNvPr id="62" name="Text 60"/>
          <p:cNvSpPr/>
          <p:nvPr/>
        </p:nvSpPr>
        <p:spPr>
          <a:xfrm>
            <a:off x="17378363" y="9950451"/>
            <a:ext cx="2238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75"/>
          </a:p>
        </p:txBody>
      </p:sp>
      <p:pic>
        <p:nvPicPr>
          <p:cNvPr id="63" name="Picture 33">
            <a:extLst>
              <a:ext uri="{FF2B5EF4-FFF2-40B4-BE49-F238E27FC236}">
                <a16:creationId xmlns:a16="http://schemas.microsoft.com/office/drawing/2014/main" id="{E0345408-560D-076F-5EBA-873EEF932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  <p:sp>
        <p:nvSpPr>
          <p:cNvPr id="64" name="Text 4">
            <a:extLst>
              <a:ext uri="{FF2B5EF4-FFF2-40B4-BE49-F238E27FC236}">
                <a16:creationId xmlns:a16="http://schemas.microsoft.com/office/drawing/2014/main" id="{85F0C4A3-B5FA-B539-60FA-0BDAAD4902D5}"/>
              </a:ext>
            </a:extLst>
          </p:cNvPr>
          <p:cNvSpPr/>
          <p:nvPr/>
        </p:nvSpPr>
        <p:spPr>
          <a:xfrm>
            <a:off x="6585797" y="169495"/>
            <a:ext cx="5116407" cy="30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0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TEAM &amp; THE ASK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8766870" y="222250"/>
            <a:ext cx="8985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16517144" y="222250"/>
            <a:ext cx="108505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3 SLIDES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1143000" y="3386535"/>
            <a:ext cx="1687449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432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FOR THE DEEPER QUESTIONS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143000" y="3989784"/>
            <a:ext cx="14716125" cy="3558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guard · Prompt architecture · Forecasting performance · Full financial model · GenAI transparency.</a:t>
            </a:r>
            <a:endParaRPr lang="en-US" sz="6600"/>
          </a:p>
        </p:txBody>
      </p:sp>
      <p:sp>
        <p:nvSpPr>
          <p:cNvPr id="10" name="Shape 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62000" y="9950451"/>
            <a:ext cx="325420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– A5 · approximately 5 minutes if read end-to-end</a:t>
            </a:r>
            <a:endParaRPr lang="en-US" sz="975"/>
          </a:p>
        </p:txBody>
      </p:sp>
      <p:sp>
        <p:nvSpPr>
          <p:cNvPr id="12" name="Text 10"/>
          <p:cNvSpPr/>
          <p:nvPr/>
        </p:nvSpPr>
        <p:spPr>
          <a:xfrm>
            <a:off x="17397215" y="9950451"/>
            <a:ext cx="20498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/>
          </a:p>
        </p:txBody>
      </p:sp>
      <p:pic>
        <p:nvPicPr>
          <p:cNvPr id="13" name="Picture 33">
            <a:extLst>
              <a:ext uri="{FF2B5EF4-FFF2-40B4-BE49-F238E27FC236}">
                <a16:creationId xmlns:a16="http://schemas.microsoft.com/office/drawing/2014/main" id="{3B6DED60-F985-8CEC-1936-2298EE746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9" y="-38100"/>
            <a:ext cx="1388308" cy="6941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62000" y="196850"/>
            <a:ext cx="209550" cy="2095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085850" y="222250"/>
            <a:ext cx="82927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8776891" y="222250"/>
            <a:ext cx="12801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A1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16918781" y="222250"/>
            <a:ext cx="68341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/ A4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PROMPT ENGINEERING ARCHITECTURE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deliberate decisions: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anchoring, verbatim citation, one-call-one-rec.</a:t>
            </a:r>
            <a:endParaRPr lang="en-US" sz="4200"/>
          </a:p>
        </p:txBody>
      </p:sp>
      <p:sp>
        <p:nvSpPr>
          <p:cNvPr id="10" name="Shape 8"/>
          <p:cNvSpPr/>
          <p:nvPr/>
        </p:nvSpPr>
        <p:spPr>
          <a:xfrm>
            <a:off x="762000" y="34571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62000" y="31650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· PRODUCTION VERBATIM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62000" y="3654028"/>
            <a:ext cx="8077200" cy="4848622"/>
          </a:xfrm>
          <a:prstGeom prst="rect">
            <a:avLst/>
          </a:prstGeom>
          <a:solidFill>
            <a:srgbClr val="0D1F3C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1016000" y="3869928"/>
            <a:ext cx="7811516" cy="396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38" i="1" kern="0" spc="-6">
                <a:solidFill>
                  <a:srgbClr val="6E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role anchoring </a:t>
            </a:r>
            <a:r>
              <a:rPr lang="en-US" sz="938" kern="0" spc="-6">
                <a:solidFill>
                  <a:srgbClr val="6B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938" b="1" kern="0" spc="-6">
                <a:solidFill>
                  <a:srgbClr val="FF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merchandising analyst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producing daily action recommendations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for a single store manager.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i="1" kern="0" spc="-6">
                <a:solidFill>
                  <a:srgbClr val="6E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strict data rules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938" b="1" kern="0" spc="-6">
                <a:solidFill>
                  <a:srgbClr val="FF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forecast values verbatim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; do not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paraphrase, round, or estimate numbers.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- Use only RAG context provided. Do not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invent SNAP weeks, holidays, or events.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- If signal is ambiguous, say so.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i="1" kern="0" spc="-6">
                <a:solidFill>
                  <a:srgbClr val="6E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output format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Return </a:t>
            </a:r>
            <a:r>
              <a:rPr lang="en-US" sz="938" b="1" kern="0" spc="-6">
                <a:solidFill>
                  <a:srgbClr val="FF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recommendation per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call. Schema: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9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"sku"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          "&lt;id&gt;",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9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"action_type"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  "MARKDOWN | RESTOCK | PROMOTE",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9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"confidence"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   "HIGH | MEDIUM | LOW",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9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"rationale"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    "&lt;text with citations&gt;",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9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"cited_values" </a:t>
            </a: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 ["+419.6%", "18 units"]</a:t>
            </a:r>
            <a:endParaRPr lang="en-US" sz="938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38" kern="0" spc="-6">
                <a:solidFill>
                  <a:srgbClr val="E5E9F2"/>
                </a:solidFill>
                <a:highlight>
                  <a:srgbClr val="0D1F3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938"/>
          </a:p>
        </p:txBody>
      </p:sp>
      <p:sp>
        <p:nvSpPr>
          <p:cNvPr id="14" name="Shape 12"/>
          <p:cNvSpPr/>
          <p:nvPr/>
        </p:nvSpPr>
        <p:spPr>
          <a:xfrm>
            <a:off x="9448800" y="34571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9448800" y="3165078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THREE DECISIONS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9448800" y="365402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9448800" y="3984228"/>
            <a:ext cx="647700" cy="841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01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10248900" y="3927078"/>
            <a:ext cx="74954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anchoring.</a:t>
            </a:r>
            <a:endParaRPr lang="en-US" sz="1950"/>
          </a:p>
        </p:txBody>
      </p:sp>
      <p:sp>
        <p:nvSpPr>
          <p:cNvPr id="19" name="Text 17"/>
          <p:cNvSpPr/>
          <p:nvPr/>
        </p:nvSpPr>
        <p:spPr>
          <a:xfrm>
            <a:off x="10248900" y="4301728"/>
            <a:ext cx="749541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Claude into the merchandiser persona. Refuses out-of-scope requests at the system layer rather than relying on downstream filtering.</a:t>
            </a:r>
            <a:endParaRPr lang="en-US" sz="1275"/>
          </a:p>
        </p:txBody>
      </p:sp>
      <p:sp>
        <p:nvSpPr>
          <p:cNvPr id="20" name="Shape 18"/>
          <p:cNvSpPr/>
          <p:nvPr/>
        </p:nvSpPr>
        <p:spPr>
          <a:xfrm>
            <a:off x="9448800" y="5054203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9448800" y="5384403"/>
            <a:ext cx="647700" cy="841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02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10248900" y="5327253"/>
            <a:ext cx="74954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data rules.</a:t>
            </a:r>
            <a:endParaRPr lang="en-US" sz="1950"/>
          </a:p>
        </p:txBody>
      </p:sp>
      <p:sp>
        <p:nvSpPr>
          <p:cNvPr id="23" name="Text 21"/>
          <p:cNvSpPr/>
          <p:nvPr/>
        </p:nvSpPr>
        <p:spPr>
          <a:xfrm>
            <a:off x="10248900" y="5701903"/>
            <a:ext cx="749541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citation makes the numeric guard useful. Without it, the LLM paraphrases ("about 400%") and the regex check has nothing to match against.</a:t>
            </a:r>
            <a:endParaRPr lang="en-US" sz="1275"/>
          </a:p>
        </p:txBody>
      </p:sp>
      <p:sp>
        <p:nvSpPr>
          <p:cNvPr id="24" name="Shape 22"/>
          <p:cNvSpPr/>
          <p:nvPr/>
        </p:nvSpPr>
        <p:spPr>
          <a:xfrm>
            <a:off x="9448800" y="6454378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9448800" y="6784578"/>
            <a:ext cx="647700" cy="841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03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10248900" y="6727428"/>
            <a:ext cx="74954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One-rec-per-call.</a:t>
            </a:r>
            <a:endParaRPr lang="en-US" sz="1950"/>
          </a:p>
        </p:txBody>
      </p:sp>
      <p:sp>
        <p:nvSpPr>
          <p:cNvPr id="27" name="Text 25"/>
          <p:cNvSpPr/>
          <p:nvPr/>
        </p:nvSpPr>
        <p:spPr>
          <a:xfrm>
            <a:off x="10248900" y="7102078"/>
            <a:ext cx="749541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Machine-parseable JSON. Failures in one card don't pollute the others. Lets us batch 5 calls in parallel and reject cards individually.</a:t>
            </a:r>
            <a:endParaRPr lang="en-US" sz="1275"/>
          </a:p>
        </p:txBody>
      </p:sp>
      <p:sp>
        <p:nvSpPr>
          <p:cNvPr id="28" name="Shape 26"/>
          <p:cNvSpPr/>
          <p:nvPr/>
        </p:nvSpPr>
        <p:spPr>
          <a:xfrm>
            <a:off x="9448800" y="8451453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9448800" y="8159353"/>
            <a:ext cx="831951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 STRUCTURE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9448800" y="8648304"/>
            <a:ext cx="3981450" cy="8001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1" name="Shape 29"/>
          <p:cNvSpPr/>
          <p:nvPr/>
        </p:nvSpPr>
        <p:spPr>
          <a:xfrm>
            <a:off x="9448800" y="8648304"/>
            <a:ext cx="25400" cy="8001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9607550" y="8781654"/>
            <a:ext cx="38000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9607550" y="9010254"/>
            <a:ext cx="119032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Summary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9607550" y="9162654"/>
            <a:ext cx="142676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· delta_pct · stock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13544550" y="8648304"/>
            <a:ext cx="3981450" cy="8001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Shape 34"/>
          <p:cNvSpPr/>
          <p:nvPr/>
        </p:nvSpPr>
        <p:spPr>
          <a:xfrm>
            <a:off x="13544550" y="8648304"/>
            <a:ext cx="25400" cy="8001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13703301" y="8781654"/>
            <a:ext cx="38000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13703301" y="9010254"/>
            <a:ext cx="1111845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13703301" y="9162654"/>
            <a:ext cx="135046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3 docs from 382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/>
          <p:nvPr/>
        </p:nvSpPr>
        <p:spPr>
          <a:xfrm>
            <a:off x="762000" y="9950451"/>
            <a:ext cx="267843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prompt_v1.4 · claude-sonnet-4-6 · temp 0.2</a:t>
            </a:r>
            <a:endParaRPr lang="en-US" sz="975"/>
          </a:p>
        </p:txBody>
      </p:sp>
      <p:sp>
        <p:nvSpPr>
          <p:cNvPr id="42" name="Text 40"/>
          <p:cNvSpPr/>
          <p:nvPr/>
        </p:nvSpPr>
        <p:spPr>
          <a:xfrm>
            <a:off x="17364571" y="9950451"/>
            <a:ext cx="23762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975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645F80D-FD6A-A81D-998D-92E559BEA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680" y="5587529"/>
            <a:ext cx="5253789" cy="1397074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7DEFACB-9BBF-8138-3048-B99ECF53D262}"/>
              </a:ext>
            </a:extLst>
          </p:cNvPr>
          <p:cNvSpPr/>
          <p:nvPr/>
        </p:nvSpPr>
        <p:spPr>
          <a:xfrm>
            <a:off x="12525804" y="4255418"/>
            <a:ext cx="5218509" cy="1371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/>
              <a:t>Update Numbers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62000" y="196850"/>
            <a:ext cx="209550" cy="2095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085850" y="222250"/>
            <a:ext cx="82927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8771334" y="222250"/>
            <a:ext cx="128547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A2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16913027" y="222250"/>
            <a:ext cx="68917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/ A4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FULL FINANCIAL MODEL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gross margin holds across pilot, growth, and scale.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is dominated by salaries, not silicon.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343374"/>
            <a:ext cx="839800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4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Three-scenario P&amp;L</a:t>
            </a:r>
            <a:endParaRPr lang="en-US" sz="1404"/>
          </a:p>
        </p:txBody>
      </p:sp>
      <p:sp>
        <p:nvSpPr>
          <p:cNvPr id="11" name="Shape 9"/>
          <p:cNvSpPr/>
          <p:nvPr/>
        </p:nvSpPr>
        <p:spPr>
          <a:xfrm>
            <a:off x="762000" y="3737570"/>
            <a:ext cx="1664692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762000" y="4083645"/>
            <a:ext cx="1664692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895350" y="3851870"/>
            <a:ext cx="1474192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825"/>
          </a:p>
        </p:txBody>
      </p:sp>
      <p:sp>
        <p:nvSpPr>
          <p:cNvPr id="14" name="Shape 12"/>
          <p:cNvSpPr/>
          <p:nvPr/>
        </p:nvSpPr>
        <p:spPr>
          <a:xfrm>
            <a:off x="2426692" y="3737570"/>
            <a:ext cx="1000621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2426692" y="4083645"/>
            <a:ext cx="1000621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2560042" y="3851870"/>
            <a:ext cx="810121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825"/>
          </a:p>
        </p:txBody>
      </p:sp>
      <p:sp>
        <p:nvSpPr>
          <p:cNvPr id="17" name="Shape 15"/>
          <p:cNvSpPr/>
          <p:nvPr/>
        </p:nvSpPr>
        <p:spPr>
          <a:xfrm>
            <a:off x="3427313" y="3737570"/>
            <a:ext cx="1497013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3427313" y="4083645"/>
            <a:ext cx="1497013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3560663" y="3851870"/>
            <a:ext cx="1306513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MO. REVENUE</a:t>
            </a:r>
            <a:endParaRPr lang="en-US" sz="825"/>
          </a:p>
        </p:txBody>
      </p:sp>
      <p:sp>
        <p:nvSpPr>
          <p:cNvPr id="20" name="Shape 18"/>
          <p:cNvSpPr/>
          <p:nvPr/>
        </p:nvSpPr>
        <p:spPr>
          <a:xfrm>
            <a:off x="4924326" y="3737570"/>
            <a:ext cx="1407319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4924326" y="4083645"/>
            <a:ext cx="1407319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5057676" y="3851870"/>
            <a:ext cx="1216819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MO. SILICON</a:t>
            </a:r>
            <a:endParaRPr lang="en-US" sz="825"/>
          </a:p>
        </p:txBody>
      </p:sp>
      <p:sp>
        <p:nvSpPr>
          <p:cNvPr id="23" name="Shape 21"/>
          <p:cNvSpPr/>
          <p:nvPr/>
        </p:nvSpPr>
        <p:spPr>
          <a:xfrm>
            <a:off x="6331645" y="3737570"/>
            <a:ext cx="1173659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6331645" y="4083645"/>
            <a:ext cx="1173659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6464995" y="3851870"/>
            <a:ext cx="983159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MO. OPEX</a:t>
            </a:r>
            <a:endParaRPr lang="en-US" sz="825"/>
          </a:p>
        </p:txBody>
      </p:sp>
      <p:sp>
        <p:nvSpPr>
          <p:cNvPr id="26" name="Shape 24"/>
          <p:cNvSpPr/>
          <p:nvPr/>
        </p:nvSpPr>
        <p:spPr>
          <a:xfrm>
            <a:off x="7505304" y="3737570"/>
            <a:ext cx="1410097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Shape 25"/>
          <p:cNvSpPr/>
          <p:nvPr/>
        </p:nvSpPr>
        <p:spPr>
          <a:xfrm>
            <a:off x="7505304" y="4083645"/>
            <a:ext cx="1410097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7638654" y="3851870"/>
            <a:ext cx="1219597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/>
          </a:p>
        </p:txBody>
      </p:sp>
      <p:sp>
        <p:nvSpPr>
          <p:cNvPr id="29" name="Shape 27"/>
          <p:cNvSpPr/>
          <p:nvPr/>
        </p:nvSpPr>
        <p:spPr>
          <a:xfrm>
            <a:off x="762000" y="4756746"/>
            <a:ext cx="1664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895350" y="4236046"/>
            <a:ext cx="1474192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</a:t>
            </a:r>
            <a:r>
              <a:rPr lang="en-US" sz="9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75"/>
          </a:p>
        </p:txBody>
      </p:sp>
      <p:sp>
        <p:nvSpPr>
          <p:cNvPr id="31" name="Shape 29"/>
          <p:cNvSpPr/>
          <p:nvPr/>
        </p:nvSpPr>
        <p:spPr>
          <a:xfrm>
            <a:off x="2426692" y="4756746"/>
            <a:ext cx="100062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2560042" y="4236046"/>
            <a:ext cx="810121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3427313" y="4756746"/>
            <a:ext cx="149701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3560663" y="4236046"/>
            <a:ext cx="1306513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€15,000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4924326" y="4756746"/>
            <a:ext cx="140731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5057676" y="4236046"/>
            <a:ext cx="121681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€1,250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331645" y="4756746"/>
            <a:ext cx="117365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6464995" y="4236046"/>
            <a:ext cx="98315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€21,500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7505304" y="4756746"/>
            <a:ext cx="141009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7638654" y="4236046"/>
            <a:ext cx="121959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−€7,750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762000" y="5410795"/>
            <a:ext cx="1664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895350" y="4896445"/>
            <a:ext cx="147419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Growth </a:t>
            </a:r>
            <a:r>
              <a:rPr lang="en-US" sz="9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1275"/>
          </a:p>
        </p:txBody>
      </p:sp>
      <p:sp>
        <p:nvSpPr>
          <p:cNvPr id="43" name="Shape 41"/>
          <p:cNvSpPr/>
          <p:nvPr/>
        </p:nvSpPr>
        <p:spPr>
          <a:xfrm>
            <a:off x="2426692" y="5410795"/>
            <a:ext cx="100062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4" name="Text 42"/>
          <p:cNvSpPr/>
          <p:nvPr/>
        </p:nvSpPr>
        <p:spPr>
          <a:xfrm>
            <a:off x="2560042" y="4896445"/>
            <a:ext cx="8101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3427313" y="5410795"/>
            <a:ext cx="149701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/>
          <p:nvPr/>
        </p:nvSpPr>
        <p:spPr>
          <a:xfrm>
            <a:off x="3560663" y="4896445"/>
            <a:ext cx="13065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€150,000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4924326" y="5410795"/>
            <a:ext cx="140731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8" name="Text 46"/>
          <p:cNvSpPr/>
          <p:nvPr/>
        </p:nvSpPr>
        <p:spPr>
          <a:xfrm>
            <a:off x="5057676" y="4896445"/>
            <a:ext cx="12168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€12,500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6331645" y="5410795"/>
            <a:ext cx="117365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0" name="Text 48"/>
          <p:cNvSpPr/>
          <p:nvPr/>
        </p:nvSpPr>
        <p:spPr>
          <a:xfrm>
            <a:off x="6464995" y="4896445"/>
            <a:ext cx="9831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€21,500</a:t>
            </a:r>
            <a:endParaRPr lang="en-US" sz="1200"/>
          </a:p>
        </p:txBody>
      </p:sp>
      <p:sp>
        <p:nvSpPr>
          <p:cNvPr id="51" name="Shape 49"/>
          <p:cNvSpPr/>
          <p:nvPr/>
        </p:nvSpPr>
        <p:spPr>
          <a:xfrm>
            <a:off x="7505304" y="5410795"/>
            <a:ext cx="141009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2" name="Text 50"/>
          <p:cNvSpPr/>
          <p:nvPr/>
        </p:nvSpPr>
        <p:spPr>
          <a:xfrm>
            <a:off x="7638654" y="4896445"/>
            <a:ext cx="12195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+€116,000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762000" y="5417146"/>
            <a:ext cx="1664692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4" name="Shape 52"/>
          <p:cNvSpPr/>
          <p:nvPr/>
        </p:nvSpPr>
        <p:spPr>
          <a:xfrm>
            <a:off x="762000" y="6077546"/>
            <a:ext cx="1664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5" name="Text 53"/>
          <p:cNvSpPr/>
          <p:nvPr/>
        </p:nvSpPr>
        <p:spPr>
          <a:xfrm>
            <a:off x="895350" y="5550496"/>
            <a:ext cx="147419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</a:t>
            </a:r>
            <a:r>
              <a:rPr lang="en-US" sz="90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</a:t>
            </a:r>
            <a:endParaRPr lang="en-US" sz="1275"/>
          </a:p>
        </p:txBody>
      </p:sp>
      <p:sp>
        <p:nvSpPr>
          <p:cNvPr id="56" name="Shape 54"/>
          <p:cNvSpPr/>
          <p:nvPr/>
        </p:nvSpPr>
        <p:spPr>
          <a:xfrm>
            <a:off x="2426692" y="5417146"/>
            <a:ext cx="1000621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7" name="Shape 55"/>
          <p:cNvSpPr/>
          <p:nvPr/>
        </p:nvSpPr>
        <p:spPr>
          <a:xfrm>
            <a:off x="2426692" y="6077546"/>
            <a:ext cx="100062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8" name="Text 56"/>
          <p:cNvSpPr/>
          <p:nvPr/>
        </p:nvSpPr>
        <p:spPr>
          <a:xfrm>
            <a:off x="2560042" y="5550496"/>
            <a:ext cx="810121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1200"/>
          </a:p>
        </p:txBody>
      </p:sp>
      <p:sp>
        <p:nvSpPr>
          <p:cNvPr id="59" name="Shape 57"/>
          <p:cNvSpPr/>
          <p:nvPr/>
        </p:nvSpPr>
        <p:spPr>
          <a:xfrm>
            <a:off x="3427313" y="5417146"/>
            <a:ext cx="1497013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0" name="Shape 58"/>
          <p:cNvSpPr/>
          <p:nvPr/>
        </p:nvSpPr>
        <p:spPr>
          <a:xfrm>
            <a:off x="3427313" y="6077546"/>
            <a:ext cx="149701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1" name="Text 59"/>
          <p:cNvSpPr/>
          <p:nvPr/>
        </p:nvSpPr>
        <p:spPr>
          <a:xfrm>
            <a:off x="3560663" y="5550496"/>
            <a:ext cx="1306513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€900,000</a:t>
            </a:r>
            <a:endParaRPr lang="en-US" sz="1200"/>
          </a:p>
        </p:txBody>
      </p:sp>
      <p:sp>
        <p:nvSpPr>
          <p:cNvPr id="62" name="Shape 60"/>
          <p:cNvSpPr/>
          <p:nvPr/>
        </p:nvSpPr>
        <p:spPr>
          <a:xfrm>
            <a:off x="4924326" y="5417146"/>
            <a:ext cx="1407319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3" name="Shape 61"/>
          <p:cNvSpPr/>
          <p:nvPr/>
        </p:nvSpPr>
        <p:spPr>
          <a:xfrm>
            <a:off x="4924326" y="6077546"/>
            <a:ext cx="140731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4" name="Text 62"/>
          <p:cNvSpPr/>
          <p:nvPr/>
        </p:nvSpPr>
        <p:spPr>
          <a:xfrm>
            <a:off x="5057676" y="5550496"/>
            <a:ext cx="121681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€75,000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6331645" y="5417146"/>
            <a:ext cx="1173659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6" name="Shape 64"/>
          <p:cNvSpPr/>
          <p:nvPr/>
        </p:nvSpPr>
        <p:spPr>
          <a:xfrm>
            <a:off x="6331645" y="6077546"/>
            <a:ext cx="117365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7" name="Text 65"/>
          <p:cNvSpPr/>
          <p:nvPr/>
        </p:nvSpPr>
        <p:spPr>
          <a:xfrm>
            <a:off x="6464995" y="5550496"/>
            <a:ext cx="98315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€21,500</a:t>
            </a:r>
            <a:endParaRPr lang="en-US" sz="1200"/>
          </a:p>
        </p:txBody>
      </p:sp>
      <p:sp>
        <p:nvSpPr>
          <p:cNvPr id="68" name="Shape 66"/>
          <p:cNvSpPr/>
          <p:nvPr/>
        </p:nvSpPr>
        <p:spPr>
          <a:xfrm>
            <a:off x="7505304" y="5417146"/>
            <a:ext cx="1410097" cy="66675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9" name="Shape 67"/>
          <p:cNvSpPr/>
          <p:nvPr/>
        </p:nvSpPr>
        <p:spPr>
          <a:xfrm>
            <a:off x="7505304" y="6077546"/>
            <a:ext cx="141009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0" name="Text 68"/>
          <p:cNvSpPr/>
          <p:nvPr/>
        </p:nvSpPr>
        <p:spPr>
          <a:xfrm>
            <a:off x="7638654" y="5550496"/>
            <a:ext cx="121959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F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+€803,500</a:t>
            </a:r>
            <a:endParaRPr lang="en-US" sz="1200"/>
          </a:p>
        </p:txBody>
      </p:sp>
      <p:sp>
        <p:nvSpPr>
          <p:cNvPr id="71" name="Text 69"/>
          <p:cNvSpPr/>
          <p:nvPr/>
        </p:nvSpPr>
        <p:spPr>
          <a:xfrm>
            <a:off x="762000" y="6391870"/>
            <a:ext cx="839800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4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 stack · annual</a:t>
            </a:r>
            <a:endParaRPr lang="en-US" sz="1404"/>
          </a:p>
        </p:txBody>
      </p:sp>
      <p:sp>
        <p:nvSpPr>
          <p:cNvPr id="72" name="Shape 70"/>
          <p:cNvSpPr/>
          <p:nvPr/>
        </p:nvSpPr>
        <p:spPr>
          <a:xfrm>
            <a:off x="762000" y="6786067"/>
            <a:ext cx="2511028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3" name="Shape 71"/>
          <p:cNvSpPr/>
          <p:nvPr/>
        </p:nvSpPr>
        <p:spPr>
          <a:xfrm>
            <a:off x="762000" y="7132142"/>
            <a:ext cx="2511028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4" name="Text 72"/>
          <p:cNvSpPr/>
          <p:nvPr/>
        </p:nvSpPr>
        <p:spPr>
          <a:xfrm>
            <a:off x="895350" y="6900367"/>
            <a:ext cx="2320528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825"/>
          </a:p>
        </p:txBody>
      </p:sp>
      <p:sp>
        <p:nvSpPr>
          <p:cNvPr id="75" name="Shape 73"/>
          <p:cNvSpPr/>
          <p:nvPr/>
        </p:nvSpPr>
        <p:spPr>
          <a:xfrm>
            <a:off x="3273028" y="6786067"/>
            <a:ext cx="1583730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6" name="Shape 74"/>
          <p:cNvSpPr/>
          <p:nvPr/>
        </p:nvSpPr>
        <p:spPr>
          <a:xfrm>
            <a:off x="3273028" y="7132142"/>
            <a:ext cx="1583730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7" name="Text 75"/>
          <p:cNvSpPr/>
          <p:nvPr/>
        </p:nvSpPr>
        <p:spPr>
          <a:xfrm>
            <a:off x="3330178" y="6900367"/>
            <a:ext cx="1393230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825"/>
          </a:p>
        </p:txBody>
      </p:sp>
      <p:sp>
        <p:nvSpPr>
          <p:cNvPr id="78" name="Shape 76"/>
          <p:cNvSpPr/>
          <p:nvPr/>
        </p:nvSpPr>
        <p:spPr>
          <a:xfrm>
            <a:off x="4856758" y="6786067"/>
            <a:ext cx="4058642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9" name="Shape 77"/>
          <p:cNvSpPr/>
          <p:nvPr/>
        </p:nvSpPr>
        <p:spPr>
          <a:xfrm>
            <a:off x="4856758" y="7132142"/>
            <a:ext cx="4058642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0" name="Text 78"/>
          <p:cNvSpPr/>
          <p:nvPr/>
        </p:nvSpPr>
        <p:spPr>
          <a:xfrm>
            <a:off x="4990108" y="6900367"/>
            <a:ext cx="3913702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825"/>
          </a:p>
        </p:txBody>
      </p:sp>
      <p:sp>
        <p:nvSpPr>
          <p:cNvPr id="81" name="Shape 79"/>
          <p:cNvSpPr/>
          <p:nvPr/>
        </p:nvSpPr>
        <p:spPr>
          <a:xfrm>
            <a:off x="762000" y="7608391"/>
            <a:ext cx="25110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2" name="Text 80"/>
          <p:cNvSpPr/>
          <p:nvPr/>
        </p:nvSpPr>
        <p:spPr>
          <a:xfrm>
            <a:off x="895350" y="7284541"/>
            <a:ext cx="23205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salaries (4)</a:t>
            </a:r>
            <a:endParaRPr lang="en-US" sz="1275"/>
          </a:p>
        </p:txBody>
      </p:sp>
      <p:sp>
        <p:nvSpPr>
          <p:cNvPr id="83" name="Shape 81"/>
          <p:cNvSpPr/>
          <p:nvPr/>
        </p:nvSpPr>
        <p:spPr>
          <a:xfrm>
            <a:off x="3273028" y="7608391"/>
            <a:ext cx="158373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4" name="Text 82"/>
          <p:cNvSpPr/>
          <p:nvPr/>
        </p:nvSpPr>
        <p:spPr>
          <a:xfrm>
            <a:off x="3330178" y="7284541"/>
            <a:ext cx="13932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€222,000</a:t>
            </a:r>
            <a:endParaRPr lang="en-US" sz="1200"/>
          </a:p>
        </p:txBody>
      </p:sp>
      <p:sp>
        <p:nvSpPr>
          <p:cNvPr id="85" name="Shape 83"/>
          <p:cNvSpPr/>
          <p:nvPr/>
        </p:nvSpPr>
        <p:spPr>
          <a:xfrm>
            <a:off x="4856758" y="7608391"/>
            <a:ext cx="405864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6" name="Text 84"/>
          <p:cNvSpPr/>
          <p:nvPr/>
        </p:nvSpPr>
        <p:spPr>
          <a:xfrm>
            <a:off x="4990108" y="7284541"/>
            <a:ext cx="39137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Lisbon market-rate · early-stage</a:t>
            </a:r>
            <a:endParaRPr lang="en-US" sz="1275"/>
          </a:p>
        </p:txBody>
      </p:sp>
      <p:sp>
        <p:nvSpPr>
          <p:cNvPr id="87" name="Shape 85"/>
          <p:cNvSpPr/>
          <p:nvPr/>
        </p:nvSpPr>
        <p:spPr>
          <a:xfrm>
            <a:off x="762000" y="8065592"/>
            <a:ext cx="25110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8" name="Text 86"/>
          <p:cNvSpPr/>
          <p:nvPr/>
        </p:nvSpPr>
        <p:spPr>
          <a:xfrm>
            <a:off x="895350" y="7748092"/>
            <a:ext cx="23205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</a:t>
            </a:r>
            <a:endParaRPr lang="en-US" sz="1275"/>
          </a:p>
        </p:txBody>
      </p:sp>
      <p:sp>
        <p:nvSpPr>
          <p:cNvPr id="89" name="Shape 87"/>
          <p:cNvSpPr/>
          <p:nvPr/>
        </p:nvSpPr>
        <p:spPr>
          <a:xfrm>
            <a:off x="3273028" y="8065592"/>
            <a:ext cx="158373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0" name="Text 88"/>
          <p:cNvSpPr/>
          <p:nvPr/>
        </p:nvSpPr>
        <p:spPr>
          <a:xfrm>
            <a:off x="3330178" y="7748092"/>
            <a:ext cx="139323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€4,800</a:t>
            </a:r>
            <a:endParaRPr lang="en-US" sz="1200"/>
          </a:p>
        </p:txBody>
      </p:sp>
      <p:sp>
        <p:nvSpPr>
          <p:cNvPr id="91" name="Shape 89"/>
          <p:cNvSpPr/>
          <p:nvPr/>
        </p:nvSpPr>
        <p:spPr>
          <a:xfrm>
            <a:off x="4856758" y="8065592"/>
            <a:ext cx="405864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2" name="Text 90"/>
          <p:cNvSpPr/>
          <p:nvPr/>
        </p:nvSpPr>
        <p:spPr>
          <a:xfrm>
            <a:off x="4990108" y="7748092"/>
            <a:ext cx="391370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per-store silicon</a:t>
            </a:r>
            <a:endParaRPr lang="en-US" sz="1275"/>
          </a:p>
        </p:txBody>
      </p:sp>
      <p:sp>
        <p:nvSpPr>
          <p:cNvPr id="93" name="Shape 91"/>
          <p:cNvSpPr/>
          <p:nvPr/>
        </p:nvSpPr>
        <p:spPr>
          <a:xfrm>
            <a:off x="762000" y="8522792"/>
            <a:ext cx="25110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4" name="Text 92"/>
          <p:cNvSpPr/>
          <p:nvPr/>
        </p:nvSpPr>
        <p:spPr>
          <a:xfrm>
            <a:off x="895350" y="8205292"/>
            <a:ext cx="23205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1275"/>
          </a:p>
        </p:txBody>
      </p:sp>
      <p:sp>
        <p:nvSpPr>
          <p:cNvPr id="95" name="Shape 93"/>
          <p:cNvSpPr/>
          <p:nvPr/>
        </p:nvSpPr>
        <p:spPr>
          <a:xfrm>
            <a:off x="3273028" y="8522792"/>
            <a:ext cx="158373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6" name="Text 94"/>
          <p:cNvSpPr/>
          <p:nvPr/>
        </p:nvSpPr>
        <p:spPr>
          <a:xfrm>
            <a:off x="3330178" y="8205292"/>
            <a:ext cx="139323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€18,000</a:t>
            </a:r>
            <a:endParaRPr lang="en-US" sz="1200"/>
          </a:p>
        </p:txBody>
      </p:sp>
      <p:sp>
        <p:nvSpPr>
          <p:cNvPr id="97" name="Shape 95"/>
          <p:cNvSpPr/>
          <p:nvPr/>
        </p:nvSpPr>
        <p:spPr>
          <a:xfrm>
            <a:off x="4856758" y="8522792"/>
            <a:ext cx="405864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8" name="Text 96"/>
          <p:cNvSpPr/>
          <p:nvPr/>
        </p:nvSpPr>
        <p:spPr>
          <a:xfrm>
            <a:off x="4990108" y="8205292"/>
            <a:ext cx="391370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Founder-led; no paid acq.</a:t>
            </a:r>
            <a:endParaRPr lang="en-US" sz="1275"/>
          </a:p>
        </p:txBody>
      </p:sp>
      <p:sp>
        <p:nvSpPr>
          <p:cNvPr id="99" name="Shape 97"/>
          <p:cNvSpPr/>
          <p:nvPr/>
        </p:nvSpPr>
        <p:spPr>
          <a:xfrm>
            <a:off x="762000" y="8979992"/>
            <a:ext cx="25110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0" name="Text 98"/>
          <p:cNvSpPr/>
          <p:nvPr/>
        </p:nvSpPr>
        <p:spPr>
          <a:xfrm>
            <a:off x="895350" y="8662492"/>
            <a:ext cx="232052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</a:t>
            </a:r>
            <a:endParaRPr lang="en-US" sz="1275"/>
          </a:p>
        </p:txBody>
      </p:sp>
      <p:sp>
        <p:nvSpPr>
          <p:cNvPr id="101" name="Shape 99"/>
          <p:cNvSpPr/>
          <p:nvPr/>
        </p:nvSpPr>
        <p:spPr>
          <a:xfrm>
            <a:off x="3273028" y="8979992"/>
            <a:ext cx="158373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2" name="Text 100"/>
          <p:cNvSpPr/>
          <p:nvPr/>
        </p:nvSpPr>
        <p:spPr>
          <a:xfrm>
            <a:off x="3330178" y="8662492"/>
            <a:ext cx="139323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€9,600</a:t>
            </a:r>
            <a:endParaRPr lang="en-US" sz="1200"/>
          </a:p>
        </p:txBody>
      </p:sp>
      <p:sp>
        <p:nvSpPr>
          <p:cNvPr id="103" name="Shape 101"/>
          <p:cNvSpPr/>
          <p:nvPr/>
        </p:nvSpPr>
        <p:spPr>
          <a:xfrm>
            <a:off x="4856758" y="8979992"/>
            <a:ext cx="405864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4" name="Text 102"/>
          <p:cNvSpPr/>
          <p:nvPr/>
        </p:nvSpPr>
        <p:spPr>
          <a:xfrm>
            <a:off x="4990108" y="8662492"/>
            <a:ext cx="391370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· accounting · SaaS</a:t>
            </a:r>
            <a:endParaRPr lang="en-US" sz="1275"/>
          </a:p>
        </p:txBody>
      </p:sp>
      <p:sp>
        <p:nvSpPr>
          <p:cNvPr id="105" name="Shape 103"/>
          <p:cNvSpPr/>
          <p:nvPr/>
        </p:nvSpPr>
        <p:spPr>
          <a:xfrm>
            <a:off x="762000" y="8986342"/>
            <a:ext cx="2511028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6" name="Shape 104"/>
          <p:cNvSpPr/>
          <p:nvPr/>
        </p:nvSpPr>
        <p:spPr>
          <a:xfrm>
            <a:off x="762000" y="9449892"/>
            <a:ext cx="2511028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7" name="Text 105"/>
          <p:cNvSpPr/>
          <p:nvPr/>
        </p:nvSpPr>
        <p:spPr>
          <a:xfrm>
            <a:off x="895350" y="9119692"/>
            <a:ext cx="232052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</a:t>
            </a:r>
            <a:endParaRPr lang="en-US" sz="1275"/>
          </a:p>
        </p:txBody>
      </p:sp>
      <p:sp>
        <p:nvSpPr>
          <p:cNvPr id="108" name="Shape 106"/>
          <p:cNvSpPr/>
          <p:nvPr/>
        </p:nvSpPr>
        <p:spPr>
          <a:xfrm>
            <a:off x="3273028" y="8986342"/>
            <a:ext cx="1583730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9" name="Shape 107"/>
          <p:cNvSpPr/>
          <p:nvPr/>
        </p:nvSpPr>
        <p:spPr>
          <a:xfrm>
            <a:off x="3273028" y="9449892"/>
            <a:ext cx="158373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0" name="Text 108"/>
          <p:cNvSpPr/>
          <p:nvPr/>
        </p:nvSpPr>
        <p:spPr>
          <a:xfrm>
            <a:off x="3330178" y="9119692"/>
            <a:ext cx="13932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€258,000</a:t>
            </a:r>
            <a:endParaRPr lang="en-US" sz="1200"/>
          </a:p>
        </p:txBody>
      </p:sp>
      <p:sp>
        <p:nvSpPr>
          <p:cNvPr id="111" name="Shape 109"/>
          <p:cNvSpPr/>
          <p:nvPr/>
        </p:nvSpPr>
        <p:spPr>
          <a:xfrm>
            <a:off x="4856758" y="8986342"/>
            <a:ext cx="4058642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2" name="Shape 110"/>
          <p:cNvSpPr/>
          <p:nvPr/>
        </p:nvSpPr>
        <p:spPr>
          <a:xfrm>
            <a:off x="4856758" y="9449892"/>
            <a:ext cx="405864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3" name="Text 111"/>
          <p:cNvSpPr/>
          <p:nvPr/>
        </p:nvSpPr>
        <p:spPr>
          <a:xfrm>
            <a:off x="4990108" y="9119692"/>
            <a:ext cx="391370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~€21,500 / month</a:t>
            </a:r>
            <a:endParaRPr lang="en-US" sz="1275"/>
          </a:p>
        </p:txBody>
      </p:sp>
      <p:sp>
        <p:nvSpPr>
          <p:cNvPr id="114" name="Text 112"/>
          <p:cNvSpPr/>
          <p:nvPr/>
        </p:nvSpPr>
        <p:spPr>
          <a:xfrm>
            <a:off x="9372600" y="3343374"/>
            <a:ext cx="839800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4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 · all phases</a:t>
            </a:r>
            <a:endParaRPr lang="en-US" sz="1404"/>
          </a:p>
        </p:txBody>
      </p:sp>
      <p:sp>
        <p:nvSpPr>
          <p:cNvPr id="115" name="Shape 113"/>
          <p:cNvSpPr/>
          <p:nvPr/>
        </p:nvSpPr>
        <p:spPr>
          <a:xfrm>
            <a:off x="9372600" y="3737570"/>
            <a:ext cx="3823692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6" name="Shape 114"/>
          <p:cNvSpPr/>
          <p:nvPr/>
        </p:nvSpPr>
        <p:spPr>
          <a:xfrm>
            <a:off x="9372600" y="4083645"/>
            <a:ext cx="3823692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7" name="Text 115"/>
          <p:cNvSpPr/>
          <p:nvPr/>
        </p:nvSpPr>
        <p:spPr>
          <a:xfrm>
            <a:off x="9505950" y="3851870"/>
            <a:ext cx="3671703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25"/>
          </a:p>
        </p:txBody>
      </p:sp>
      <p:sp>
        <p:nvSpPr>
          <p:cNvPr id="118" name="Shape 116"/>
          <p:cNvSpPr/>
          <p:nvPr/>
        </p:nvSpPr>
        <p:spPr>
          <a:xfrm>
            <a:off x="13196292" y="3737570"/>
            <a:ext cx="2084685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9" name="Shape 117"/>
          <p:cNvSpPr/>
          <p:nvPr/>
        </p:nvSpPr>
        <p:spPr>
          <a:xfrm>
            <a:off x="13196292" y="4083645"/>
            <a:ext cx="2084685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0" name="Text 118"/>
          <p:cNvSpPr/>
          <p:nvPr/>
        </p:nvSpPr>
        <p:spPr>
          <a:xfrm>
            <a:off x="13329642" y="3851870"/>
            <a:ext cx="1894185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/>
          </a:p>
        </p:txBody>
      </p:sp>
      <p:sp>
        <p:nvSpPr>
          <p:cNvPr id="121" name="Shape 119"/>
          <p:cNvSpPr/>
          <p:nvPr/>
        </p:nvSpPr>
        <p:spPr>
          <a:xfrm>
            <a:off x="15280978" y="3737570"/>
            <a:ext cx="2245023" cy="365125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2" name="Shape 120"/>
          <p:cNvSpPr/>
          <p:nvPr/>
        </p:nvSpPr>
        <p:spPr>
          <a:xfrm>
            <a:off x="15280978" y="4083645"/>
            <a:ext cx="2245023" cy="19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3" name="Text 121"/>
          <p:cNvSpPr/>
          <p:nvPr/>
        </p:nvSpPr>
        <p:spPr>
          <a:xfrm>
            <a:off x="15414328" y="3851870"/>
            <a:ext cx="2054523" cy="15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25"/>
          </a:p>
        </p:txBody>
      </p:sp>
      <p:sp>
        <p:nvSpPr>
          <p:cNvPr id="124" name="Shape 122"/>
          <p:cNvSpPr/>
          <p:nvPr/>
        </p:nvSpPr>
        <p:spPr>
          <a:xfrm>
            <a:off x="9372600" y="4559896"/>
            <a:ext cx="3823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5" name="Text 123"/>
          <p:cNvSpPr/>
          <p:nvPr/>
        </p:nvSpPr>
        <p:spPr>
          <a:xfrm>
            <a:off x="9505950" y="4236046"/>
            <a:ext cx="36717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contract size</a:t>
            </a:r>
            <a:endParaRPr lang="en-US" sz="1275"/>
          </a:p>
        </p:txBody>
      </p:sp>
      <p:sp>
        <p:nvSpPr>
          <p:cNvPr id="126" name="Shape 124"/>
          <p:cNvSpPr/>
          <p:nvPr/>
        </p:nvSpPr>
        <p:spPr>
          <a:xfrm>
            <a:off x="13196292" y="4559896"/>
            <a:ext cx="208468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7" name="Text 125"/>
          <p:cNvSpPr/>
          <p:nvPr/>
        </p:nvSpPr>
        <p:spPr>
          <a:xfrm>
            <a:off x="13329642" y="4236046"/>
            <a:ext cx="18941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stores</a:t>
            </a:r>
            <a:endParaRPr lang="en-US" sz="1200"/>
          </a:p>
        </p:txBody>
      </p:sp>
      <p:sp>
        <p:nvSpPr>
          <p:cNvPr id="128" name="Shape 126"/>
          <p:cNvSpPr/>
          <p:nvPr/>
        </p:nvSpPr>
        <p:spPr>
          <a:xfrm>
            <a:off x="15280978" y="4559896"/>
            <a:ext cx="224502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9" name="Text 127"/>
          <p:cNvSpPr/>
          <p:nvPr/>
        </p:nvSpPr>
        <p:spPr>
          <a:xfrm>
            <a:off x="15414328" y="4236046"/>
            <a:ext cx="2054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stores</a:t>
            </a:r>
            <a:endParaRPr lang="en-US" sz="1200"/>
          </a:p>
        </p:txBody>
      </p:sp>
      <p:sp>
        <p:nvSpPr>
          <p:cNvPr id="130" name="Shape 128"/>
          <p:cNvSpPr/>
          <p:nvPr/>
        </p:nvSpPr>
        <p:spPr>
          <a:xfrm>
            <a:off x="9372600" y="5017095"/>
            <a:ext cx="3823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1" name="Text 129"/>
          <p:cNvSpPr/>
          <p:nvPr/>
        </p:nvSpPr>
        <p:spPr>
          <a:xfrm>
            <a:off x="9505950" y="4699595"/>
            <a:ext cx="367170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</a:t>
            </a:r>
            <a:endParaRPr lang="en-US" sz="1275"/>
          </a:p>
        </p:txBody>
      </p:sp>
      <p:sp>
        <p:nvSpPr>
          <p:cNvPr id="132" name="Shape 130"/>
          <p:cNvSpPr/>
          <p:nvPr/>
        </p:nvSpPr>
        <p:spPr>
          <a:xfrm>
            <a:off x="13196292" y="5017095"/>
            <a:ext cx="208468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3" name="Text 131"/>
          <p:cNvSpPr/>
          <p:nvPr/>
        </p:nvSpPr>
        <p:spPr>
          <a:xfrm>
            <a:off x="13329642" y="4699595"/>
            <a:ext cx="189418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€270k</a:t>
            </a:r>
            <a:endParaRPr lang="en-US" sz="1200"/>
          </a:p>
        </p:txBody>
      </p:sp>
      <p:sp>
        <p:nvSpPr>
          <p:cNvPr id="134" name="Shape 132"/>
          <p:cNvSpPr/>
          <p:nvPr/>
        </p:nvSpPr>
        <p:spPr>
          <a:xfrm>
            <a:off x="15280978" y="5017095"/>
            <a:ext cx="224502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5" name="Text 133"/>
          <p:cNvSpPr/>
          <p:nvPr/>
        </p:nvSpPr>
        <p:spPr>
          <a:xfrm>
            <a:off x="15414328" y="4699595"/>
            <a:ext cx="205452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€720k</a:t>
            </a:r>
            <a:endParaRPr lang="en-US" sz="1200"/>
          </a:p>
        </p:txBody>
      </p:sp>
      <p:sp>
        <p:nvSpPr>
          <p:cNvPr id="136" name="Shape 134"/>
          <p:cNvSpPr/>
          <p:nvPr/>
        </p:nvSpPr>
        <p:spPr>
          <a:xfrm>
            <a:off x="9372600" y="5474296"/>
            <a:ext cx="3823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7" name="Text 135"/>
          <p:cNvSpPr/>
          <p:nvPr/>
        </p:nvSpPr>
        <p:spPr>
          <a:xfrm>
            <a:off x="9505950" y="5156796"/>
            <a:ext cx="367170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gross churn</a:t>
            </a:r>
            <a:endParaRPr lang="en-US" sz="1275"/>
          </a:p>
        </p:txBody>
      </p:sp>
      <p:sp>
        <p:nvSpPr>
          <p:cNvPr id="138" name="Shape 136"/>
          <p:cNvSpPr/>
          <p:nvPr/>
        </p:nvSpPr>
        <p:spPr>
          <a:xfrm>
            <a:off x="13196292" y="5474296"/>
            <a:ext cx="208468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9" name="Text 137"/>
          <p:cNvSpPr/>
          <p:nvPr/>
        </p:nvSpPr>
        <p:spPr>
          <a:xfrm>
            <a:off x="13329642" y="5156796"/>
            <a:ext cx="189418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200"/>
          </a:p>
        </p:txBody>
      </p:sp>
      <p:sp>
        <p:nvSpPr>
          <p:cNvPr id="140" name="Shape 138"/>
          <p:cNvSpPr/>
          <p:nvPr/>
        </p:nvSpPr>
        <p:spPr>
          <a:xfrm>
            <a:off x="15280978" y="5474296"/>
            <a:ext cx="224502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1" name="Text 139"/>
          <p:cNvSpPr/>
          <p:nvPr/>
        </p:nvSpPr>
        <p:spPr>
          <a:xfrm>
            <a:off x="15414328" y="5156796"/>
            <a:ext cx="205452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/>
          </a:p>
        </p:txBody>
      </p:sp>
      <p:sp>
        <p:nvSpPr>
          <p:cNvPr id="142" name="Shape 140"/>
          <p:cNvSpPr/>
          <p:nvPr/>
        </p:nvSpPr>
        <p:spPr>
          <a:xfrm>
            <a:off x="9372600" y="5944196"/>
            <a:ext cx="3823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3" name="Text 141"/>
          <p:cNvSpPr/>
          <p:nvPr/>
        </p:nvSpPr>
        <p:spPr>
          <a:xfrm>
            <a:off x="9505950" y="5613996"/>
            <a:ext cx="367170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275"/>
          </a:p>
        </p:txBody>
      </p:sp>
      <p:sp>
        <p:nvSpPr>
          <p:cNvPr id="144" name="Shape 142"/>
          <p:cNvSpPr/>
          <p:nvPr/>
        </p:nvSpPr>
        <p:spPr>
          <a:xfrm>
            <a:off x="13196292" y="5944196"/>
            <a:ext cx="208468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5" name="Text 143"/>
          <p:cNvSpPr/>
          <p:nvPr/>
        </p:nvSpPr>
        <p:spPr>
          <a:xfrm>
            <a:off x="13329642" y="5613996"/>
            <a:ext cx="189418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€1.5M</a:t>
            </a:r>
            <a:endParaRPr lang="en-US" sz="1200"/>
          </a:p>
        </p:txBody>
      </p:sp>
      <p:sp>
        <p:nvSpPr>
          <p:cNvPr id="146" name="Shape 144"/>
          <p:cNvSpPr/>
          <p:nvPr/>
        </p:nvSpPr>
        <p:spPr>
          <a:xfrm>
            <a:off x="15280978" y="5944196"/>
            <a:ext cx="224502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7" name="Text 145"/>
          <p:cNvSpPr/>
          <p:nvPr/>
        </p:nvSpPr>
        <p:spPr>
          <a:xfrm>
            <a:off x="15414328" y="5613996"/>
            <a:ext cx="205452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€4.8M</a:t>
            </a:r>
            <a:endParaRPr lang="en-US" sz="1200"/>
          </a:p>
        </p:txBody>
      </p:sp>
      <p:sp>
        <p:nvSpPr>
          <p:cNvPr id="148" name="Shape 146"/>
          <p:cNvSpPr/>
          <p:nvPr/>
        </p:nvSpPr>
        <p:spPr>
          <a:xfrm>
            <a:off x="9372600" y="6414096"/>
            <a:ext cx="3823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9" name="Text 147"/>
          <p:cNvSpPr/>
          <p:nvPr/>
        </p:nvSpPr>
        <p:spPr>
          <a:xfrm>
            <a:off x="9505950" y="6083896"/>
            <a:ext cx="367170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275"/>
          </a:p>
        </p:txBody>
      </p:sp>
      <p:sp>
        <p:nvSpPr>
          <p:cNvPr id="150" name="Shape 148"/>
          <p:cNvSpPr/>
          <p:nvPr/>
        </p:nvSpPr>
        <p:spPr>
          <a:xfrm>
            <a:off x="13196292" y="6414096"/>
            <a:ext cx="208468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1" name="Text 149"/>
          <p:cNvSpPr/>
          <p:nvPr/>
        </p:nvSpPr>
        <p:spPr>
          <a:xfrm>
            <a:off x="13329642" y="6083896"/>
            <a:ext cx="189418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€8k</a:t>
            </a:r>
            <a:endParaRPr lang="en-US" sz="1200"/>
          </a:p>
        </p:txBody>
      </p:sp>
      <p:sp>
        <p:nvSpPr>
          <p:cNvPr id="152" name="Shape 150"/>
          <p:cNvSpPr/>
          <p:nvPr/>
        </p:nvSpPr>
        <p:spPr>
          <a:xfrm>
            <a:off x="15280978" y="6414096"/>
            <a:ext cx="224502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3" name="Text 151"/>
          <p:cNvSpPr/>
          <p:nvPr/>
        </p:nvSpPr>
        <p:spPr>
          <a:xfrm>
            <a:off x="15414328" y="6083896"/>
            <a:ext cx="205452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€110k</a:t>
            </a:r>
            <a:endParaRPr lang="en-US" sz="1200"/>
          </a:p>
        </p:txBody>
      </p:sp>
      <p:sp>
        <p:nvSpPr>
          <p:cNvPr id="154" name="Shape 152"/>
          <p:cNvSpPr/>
          <p:nvPr/>
        </p:nvSpPr>
        <p:spPr>
          <a:xfrm>
            <a:off x="9372600" y="6420445"/>
            <a:ext cx="3823692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5" name="Shape 153"/>
          <p:cNvSpPr/>
          <p:nvPr/>
        </p:nvSpPr>
        <p:spPr>
          <a:xfrm>
            <a:off x="9372600" y="6883995"/>
            <a:ext cx="3823692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6" name="Text 154"/>
          <p:cNvSpPr/>
          <p:nvPr/>
        </p:nvSpPr>
        <p:spPr>
          <a:xfrm>
            <a:off x="9505950" y="6553795"/>
            <a:ext cx="367170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1275"/>
          </a:p>
        </p:txBody>
      </p:sp>
      <p:sp>
        <p:nvSpPr>
          <p:cNvPr id="157" name="Shape 155"/>
          <p:cNvSpPr/>
          <p:nvPr/>
        </p:nvSpPr>
        <p:spPr>
          <a:xfrm>
            <a:off x="13196292" y="6420445"/>
            <a:ext cx="2084685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8" name="Shape 156"/>
          <p:cNvSpPr/>
          <p:nvPr/>
        </p:nvSpPr>
        <p:spPr>
          <a:xfrm>
            <a:off x="13196292" y="6883995"/>
            <a:ext cx="208468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9" name="Text 157"/>
          <p:cNvSpPr/>
          <p:nvPr/>
        </p:nvSpPr>
        <p:spPr>
          <a:xfrm>
            <a:off x="13329642" y="6553795"/>
            <a:ext cx="189418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 : 1</a:t>
            </a:r>
            <a:endParaRPr lang="en-US" sz="1200"/>
          </a:p>
        </p:txBody>
      </p:sp>
      <p:sp>
        <p:nvSpPr>
          <p:cNvPr id="160" name="Shape 158"/>
          <p:cNvSpPr/>
          <p:nvPr/>
        </p:nvSpPr>
        <p:spPr>
          <a:xfrm>
            <a:off x="15280978" y="6420445"/>
            <a:ext cx="2245023" cy="4699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1" name="Shape 159"/>
          <p:cNvSpPr/>
          <p:nvPr/>
        </p:nvSpPr>
        <p:spPr>
          <a:xfrm>
            <a:off x="15280978" y="6883995"/>
            <a:ext cx="2245023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2" name="Text 160"/>
          <p:cNvSpPr/>
          <p:nvPr/>
        </p:nvSpPr>
        <p:spPr>
          <a:xfrm>
            <a:off x="15414328" y="6553795"/>
            <a:ext cx="205452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: 1</a:t>
            </a:r>
            <a:endParaRPr lang="en-US" sz="1200"/>
          </a:p>
        </p:txBody>
      </p:sp>
      <p:sp>
        <p:nvSpPr>
          <p:cNvPr id="163" name="Text 161"/>
          <p:cNvSpPr/>
          <p:nvPr/>
        </p:nvSpPr>
        <p:spPr>
          <a:xfrm>
            <a:off x="9372600" y="7198321"/>
            <a:ext cx="839800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4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highlights</a:t>
            </a:r>
            <a:endParaRPr lang="en-US" sz="1404"/>
          </a:p>
        </p:txBody>
      </p:sp>
      <p:sp>
        <p:nvSpPr>
          <p:cNvPr id="164" name="Shape 162"/>
          <p:cNvSpPr/>
          <p:nvPr/>
        </p:nvSpPr>
        <p:spPr>
          <a:xfrm>
            <a:off x="9372600" y="8080772"/>
            <a:ext cx="81534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5" name="Text 163"/>
          <p:cNvSpPr/>
          <p:nvPr/>
        </p:nvSpPr>
        <p:spPr>
          <a:xfrm>
            <a:off x="9372600" y="7744917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/>
          </a:p>
        </p:txBody>
      </p:sp>
      <p:sp>
        <p:nvSpPr>
          <p:cNvPr id="166" name="Text 164"/>
          <p:cNvSpPr/>
          <p:nvPr/>
        </p:nvSpPr>
        <p:spPr>
          <a:xfrm>
            <a:off x="9791700" y="7706817"/>
            <a:ext cx="6742847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25% (worst case):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drops to €1.08M · LTV/CAC still 135:1 in Phase 1.</a:t>
            </a:r>
            <a:endParaRPr lang="en-US" sz="1425"/>
          </a:p>
        </p:txBody>
      </p:sp>
      <p:sp>
        <p:nvSpPr>
          <p:cNvPr id="167" name="Shape 165"/>
          <p:cNvSpPr/>
          <p:nvPr/>
        </p:nvSpPr>
        <p:spPr>
          <a:xfrm>
            <a:off x="9372600" y="8575378"/>
            <a:ext cx="81534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8" name="Text 166"/>
          <p:cNvSpPr/>
          <p:nvPr/>
        </p:nvSpPr>
        <p:spPr>
          <a:xfrm>
            <a:off x="9372600" y="8239522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/>
          </a:p>
        </p:txBody>
      </p:sp>
      <p:sp>
        <p:nvSpPr>
          <p:cNvPr id="169" name="Text 167"/>
          <p:cNvSpPr/>
          <p:nvPr/>
        </p:nvSpPr>
        <p:spPr>
          <a:xfrm>
            <a:off x="9791700" y="8201422"/>
            <a:ext cx="7620193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€200/store: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break-even rises from 78 to 117 stores. Still inside first paying chain.</a:t>
            </a:r>
            <a:endParaRPr lang="en-US" sz="1425"/>
          </a:p>
        </p:txBody>
      </p:sp>
      <p:sp>
        <p:nvSpPr>
          <p:cNvPr id="170" name="Text 168"/>
          <p:cNvSpPr/>
          <p:nvPr/>
        </p:nvSpPr>
        <p:spPr>
          <a:xfrm>
            <a:off x="9372600" y="8734127"/>
            <a:ext cx="342900" cy="25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-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/>
          </a:p>
        </p:txBody>
      </p:sp>
      <p:sp>
        <p:nvSpPr>
          <p:cNvPr id="171" name="Text 169"/>
          <p:cNvSpPr/>
          <p:nvPr/>
        </p:nvSpPr>
        <p:spPr>
          <a:xfrm>
            <a:off x="9791700" y="8696027"/>
            <a:ext cx="7398737" cy="29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cost +3×: </a:t>
            </a:r>
            <a:r>
              <a:rPr lang="en-US" sz="1425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per-briefing cost €0.07 — gross margin slips from 92% to 91%. Negligible.</a:t>
            </a:r>
            <a:endParaRPr lang="en-US" sz="1425"/>
          </a:p>
        </p:txBody>
      </p:sp>
      <p:sp>
        <p:nvSpPr>
          <p:cNvPr id="172" name="Shape 170"/>
          <p:cNvSpPr/>
          <p:nvPr/>
        </p:nvSpPr>
        <p:spPr>
          <a:xfrm>
            <a:off x="9372600" y="9085223"/>
            <a:ext cx="8153400" cy="5270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3" name="Text 171"/>
          <p:cNvSpPr/>
          <p:nvPr/>
        </p:nvSpPr>
        <p:spPr>
          <a:xfrm>
            <a:off x="9639300" y="9282073"/>
            <a:ext cx="6192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900"/>
          </a:p>
        </p:txBody>
      </p:sp>
      <p:sp>
        <p:nvSpPr>
          <p:cNvPr id="174" name="Text 172"/>
          <p:cNvSpPr/>
          <p:nvPr/>
        </p:nvSpPr>
        <p:spPr>
          <a:xfrm>
            <a:off x="10410925" y="9256673"/>
            <a:ext cx="481564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kern="0" spc="-6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matters more than price. Workflow embedment is the lever.</a:t>
            </a:r>
            <a:endParaRPr lang="en-US" sz="1275"/>
          </a:p>
        </p:txBody>
      </p:sp>
      <p:sp>
        <p:nvSpPr>
          <p:cNvPr id="175" name="Shape 17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6" name="Text 174"/>
          <p:cNvSpPr/>
          <p:nvPr/>
        </p:nvSpPr>
        <p:spPr>
          <a:xfrm>
            <a:off x="762000" y="9950451"/>
            <a:ext cx="376651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 financial model v1.2 · April 2026 · all figures in EUR</a:t>
            </a:r>
            <a:endParaRPr lang="en-US" sz="975"/>
          </a:p>
        </p:txBody>
      </p:sp>
      <p:sp>
        <p:nvSpPr>
          <p:cNvPr id="177" name="Text 175"/>
          <p:cNvSpPr/>
          <p:nvPr/>
        </p:nvSpPr>
        <p:spPr>
          <a:xfrm>
            <a:off x="17364571" y="9950451"/>
            <a:ext cx="23762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975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FB14EC6-D082-475F-B65A-2B3DD6B40E4F}"/>
              </a:ext>
            </a:extLst>
          </p:cNvPr>
          <p:cNvSpPr/>
          <p:nvPr/>
        </p:nvSpPr>
        <p:spPr>
          <a:xfrm>
            <a:off x="12146062" y="330497"/>
            <a:ext cx="5218509" cy="13716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/>
              <a:t>Update Numbers</a:t>
            </a:r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92F14879-786E-9B2B-CB25-97893E981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96" y="2754917"/>
            <a:ext cx="7772400" cy="39655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62000" y="196850"/>
            <a:ext cx="209550" cy="2095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085850" y="222250"/>
            <a:ext cx="82927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MERCHAI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8778478" y="222250"/>
            <a:ext cx="127833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A3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16920171" y="222250"/>
            <a:ext cx="6820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/ A4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GENAI TRANSPARENCY SUMMARY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1190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used AI to build MerchAI. </a:t>
            </a:r>
            <a:r>
              <a:rPr lang="en-US" sz="4200" b="1" kern="0" spc="-84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logged sessions across four workstreams.</a:t>
            </a:r>
            <a:endParaRPr lang="en-US" sz="4200"/>
          </a:p>
        </p:txBody>
      </p:sp>
      <p:sp>
        <p:nvSpPr>
          <p:cNvPr id="10" name="Text 8"/>
          <p:cNvSpPr/>
          <p:nvPr/>
        </p:nvSpPr>
        <p:spPr>
          <a:xfrm>
            <a:off x="762000" y="3165078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course brief — full session-by-session log in business plan Appendix A.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762000" y="3736578"/>
            <a:ext cx="8229600" cy="2703711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1035050" y="4009628"/>
            <a:ext cx="609600" cy="342900"/>
          </a:xfrm>
          <a:prstGeom prst="rect">
            <a:avLst/>
          </a:prstGeom>
          <a:ln w="190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4028678"/>
            <a:ext cx="304800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35050" y="4581128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01</a:t>
            </a:r>
            <a:endParaRPr lang="en-US" sz="975"/>
          </a:p>
        </p:txBody>
      </p:sp>
      <p:sp>
        <p:nvSpPr>
          <p:cNvPr id="15" name="Text 12"/>
          <p:cNvSpPr/>
          <p:nvPr/>
        </p:nvSpPr>
        <p:spPr>
          <a:xfrm>
            <a:off x="1035050" y="4860528"/>
            <a:ext cx="791400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2100"/>
          </a:p>
        </p:txBody>
      </p:sp>
      <p:sp>
        <p:nvSpPr>
          <p:cNvPr id="16" name="Text 13"/>
          <p:cNvSpPr/>
          <p:nvPr/>
        </p:nvSpPr>
        <p:spPr>
          <a:xfrm>
            <a:off x="1035050" y="5319614"/>
            <a:ext cx="791400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275" kern="0" spc="-6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generation, feature scoping, market sizing pressure tests. Team-authored ideas refined through dialogue; no copy-paste of LLM-generated content.</a:t>
            </a:r>
            <a:endParaRPr lang="en-US" sz="1275"/>
          </a:p>
        </p:txBody>
      </p:sp>
      <p:sp>
        <p:nvSpPr>
          <p:cNvPr id="17" name="Shape 14"/>
          <p:cNvSpPr/>
          <p:nvPr/>
        </p:nvSpPr>
        <p:spPr>
          <a:xfrm>
            <a:off x="1035050" y="6048276"/>
            <a:ext cx="7683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5"/>
          <p:cNvSpPr/>
          <p:nvPr/>
        </p:nvSpPr>
        <p:spPr>
          <a:xfrm>
            <a:off x="1035050" y="6245126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SESSIONS LOGGED</a:t>
            </a:r>
            <a:endParaRPr lang="en-US" sz="975"/>
          </a:p>
        </p:txBody>
      </p:sp>
      <p:sp>
        <p:nvSpPr>
          <p:cNvPr id="19" name="Shape 16"/>
          <p:cNvSpPr/>
          <p:nvPr/>
        </p:nvSpPr>
        <p:spPr>
          <a:xfrm>
            <a:off x="9296400" y="3736578"/>
            <a:ext cx="8229600" cy="2703711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Shape 17"/>
          <p:cNvSpPr/>
          <p:nvPr/>
        </p:nvSpPr>
        <p:spPr>
          <a:xfrm>
            <a:off x="9569450" y="4009628"/>
            <a:ext cx="609600" cy="342900"/>
          </a:xfrm>
          <a:prstGeom prst="rect">
            <a:avLst/>
          </a:prstGeom>
          <a:ln w="190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850" y="4028678"/>
            <a:ext cx="304800" cy="3048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569450" y="4581128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02</a:t>
            </a:r>
            <a:endParaRPr lang="en-US" sz="975"/>
          </a:p>
        </p:txBody>
      </p:sp>
      <p:sp>
        <p:nvSpPr>
          <p:cNvPr id="23" name="Text 19"/>
          <p:cNvSpPr/>
          <p:nvPr/>
        </p:nvSpPr>
        <p:spPr>
          <a:xfrm>
            <a:off x="9569450" y="4860528"/>
            <a:ext cx="791400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2100"/>
          </a:p>
        </p:txBody>
      </p:sp>
      <p:sp>
        <p:nvSpPr>
          <p:cNvPr id="24" name="Text 20"/>
          <p:cNvSpPr/>
          <p:nvPr/>
        </p:nvSpPr>
        <p:spPr>
          <a:xfrm>
            <a:off x="9569450" y="5319614"/>
            <a:ext cx="791400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275" kern="0" spc="-6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Grammar, clarity, and logic review of team-authored drafts. Substantive content authored by the team; LLM used as an editor, not a writer.</a:t>
            </a:r>
            <a:endParaRPr lang="en-US" sz="1275"/>
          </a:p>
        </p:txBody>
      </p:sp>
      <p:sp>
        <p:nvSpPr>
          <p:cNvPr id="25" name="Shape 21"/>
          <p:cNvSpPr/>
          <p:nvPr/>
        </p:nvSpPr>
        <p:spPr>
          <a:xfrm>
            <a:off x="9569450" y="6048276"/>
            <a:ext cx="7683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2"/>
          <p:cNvSpPr/>
          <p:nvPr/>
        </p:nvSpPr>
        <p:spPr>
          <a:xfrm>
            <a:off x="9569450" y="6245126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SESSIONS LOGGED</a:t>
            </a:r>
            <a:endParaRPr lang="en-US" sz="975"/>
          </a:p>
        </p:txBody>
      </p:sp>
      <p:sp>
        <p:nvSpPr>
          <p:cNvPr id="27" name="Shape 23"/>
          <p:cNvSpPr/>
          <p:nvPr/>
        </p:nvSpPr>
        <p:spPr>
          <a:xfrm>
            <a:off x="762000" y="6745089"/>
            <a:ext cx="8229600" cy="2703711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Shape 24"/>
          <p:cNvSpPr/>
          <p:nvPr/>
        </p:nvSpPr>
        <p:spPr>
          <a:xfrm>
            <a:off x="1035050" y="7018139"/>
            <a:ext cx="609600" cy="342900"/>
          </a:xfrm>
          <a:prstGeom prst="rect">
            <a:avLst/>
          </a:prstGeom>
          <a:ln w="190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450" y="7037189"/>
            <a:ext cx="304800" cy="3048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35050" y="7589639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03</a:t>
            </a:r>
            <a:endParaRPr lang="en-US" sz="975"/>
          </a:p>
        </p:txBody>
      </p:sp>
      <p:sp>
        <p:nvSpPr>
          <p:cNvPr id="31" name="Text 26"/>
          <p:cNvSpPr/>
          <p:nvPr/>
        </p:nvSpPr>
        <p:spPr>
          <a:xfrm>
            <a:off x="1035050" y="7869039"/>
            <a:ext cx="791400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2100"/>
          </a:p>
        </p:txBody>
      </p:sp>
      <p:sp>
        <p:nvSpPr>
          <p:cNvPr id="32" name="Text 27"/>
          <p:cNvSpPr/>
          <p:nvPr/>
        </p:nvSpPr>
        <p:spPr>
          <a:xfrm>
            <a:off x="1035050" y="8328124"/>
            <a:ext cx="791400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</a:t>
            </a: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implementation, debugging, deployment scaffolding. All architectural decisions reviewed and signed off by the human authors.</a:t>
            </a:r>
            <a:endParaRPr lang="en-US" sz="1275"/>
          </a:p>
        </p:txBody>
      </p:sp>
      <p:sp>
        <p:nvSpPr>
          <p:cNvPr id="33" name="Shape 28"/>
          <p:cNvSpPr/>
          <p:nvPr/>
        </p:nvSpPr>
        <p:spPr>
          <a:xfrm>
            <a:off x="1035050" y="9056787"/>
            <a:ext cx="7683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29"/>
          <p:cNvSpPr/>
          <p:nvPr/>
        </p:nvSpPr>
        <p:spPr>
          <a:xfrm>
            <a:off x="1035050" y="9253637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SESSIONS LOGGED</a:t>
            </a:r>
            <a:endParaRPr lang="en-US" sz="975"/>
          </a:p>
        </p:txBody>
      </p:sp>
      <p:sp>
        <p:nvSpPr>
          <p:cNvPr id="35" name="Shape 30"/>
          <p:cNvSpPr/>
          <p:nvPr/>
        </p:nvSpPr>
        <p:spPr>
          <a:xfrm>
            <a:off x="9296400" y="6745089"/>
            <a:ext cx="8229600" cy="2703711"/>
          </a:xfrm>
          <a:prstGeom prst="rect">
            <a:avLst/>
          </a:prstGeom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Shape 31"/>
          <p:cNvSpPr/>
          <p:nvPr/>
        </p:nvSpPr>
        <p:spPr>
          <a:xfrm>
            <a:off x="9569450" y="7018139"/>
            <a:ext cx="609600" cy="342900"/>
          </a:xfrm>
          <a:prstGeom prst="rect">
            <a:avLst/>
          </a:prstGeom>
          <a:ln w="190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1850" y="7037189"/>
            <a:ext cx="304800" cy="3048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569450" y="7589639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04</a:t>
            </a:r>
            <a:endParaRPr lang="en-US" sz="975"/>
          </a:p>
        </p:txBody>
      </p:sp>
      <p:sp>
        <p:nvSpPr>
          <p:cNvPr id="39" name="Text 33"/>
          <p:cNvSpPr/>
          <p:nvPr/>
        </p:nvSpPr>
        <p:spPr>
          <a:xfrm>
            <a:off x="9569450" y="7869039"/>
            <a:ext cx="791400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21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2100"/>
          </a:p>
        </p:txBody>
      </p:sp>
      <p:sp>
        <p:nvSpPr>
          <p:cNvPr id="40" name="Text 34"/>
          <p:cNvSpPr/>
          <p:nvPr/>
        </p:nvSpPr>
        <p:spPr>
          <a:xfrm>
            <a:off x="9569450" y="8328124"/>
            <a:ext cx="791400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</a:t>
            </a:r>
            <a:r>
              <a:rPr lang="en-US" sz="1275" b="1" kern="0" spc="-6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r>
              <a:rPr lang="en-US" sz="1275" kern="0" spc="-6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document generation from team-authored outline and source material. All numbers traceable to the financial model spreadsheet.</a:t>
            </a:r>
            <a:endParaRPr lang="en-US" sz="1275"/>
          </a:p>
        </p:txBody>
      </p:sp>
      <p:sp>
        <p:nvSpPr>
          <p:cNvPr id="41" name="Shape 35"/>
          <p:cNvSpPr/>
          <p:nvPr/>
        </p:nvSpPr>
        <p:spPr>
          <a:xfrm>
            <a:off x="9569450" y="9056787"/>
            <a:ext cx="7683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Text 36"/>
          <p:cNvSpPr/>
          <p:nvPr/>
        </p:nvSpPr>
        <p:spPr>
          <a:xfrm>
            <a:off x="9569450" y="9253637"/>
            <a:ext cx="7914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39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SESSION LOGGED</a:t>
            </a:r>
            <a:endParaRPr lang="en-US" sz="975"/>
          </a:p>
        </p:txBody>
      </p:sp>
      <p:sp>
        <p:nvSpPr>
          <p:cNvPr id="43" name="Shape 37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4" name="Text 38"/>
          <p:cNvSpPr/>
          <p:nvPr/>
        </p:nvSpPr>
        <p:spPr>
          <a:xfrm>
            <a:off x="762000" y="9950451"/>
            <a:ext cx="652292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session-by-session log in business plan Appendix A · Nova SBE 2758-T4 · GenAI transparency policy</a:t>
            </a:r>
            <a:endParaRPr lang="en-US" sz="975"/>
          </a:p>
        </p:txBody>
      </p:sp>
      <p:sp>
        <p:nvSpPr>
          <p:cNvPr id="45" name="Text 39"/>
          <p:cNvSpPr/>
          <p:nvPr/>
        </p:nvSpPr>
        <p:spPr>
          <a:xfrm>
            <a:off x="17364571" y="9950451"/>
            <a:ext cx="23762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39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97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60325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62000" y="196850"/>
            <a:ext cx="209550" cy="20955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085850" y="222250"/>
            <a:ext cx="82927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7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MERCHAI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73021" y="222250"/>
            <a:ext cx="12820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147" normalizeH="0" baseline="0" noProof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APPENDIX · A4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912928" y="222250"/>
            <a:ext cx="68927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7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A4 / A4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1447800"/>
            <a:ext cx="172669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1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A4 · REFERENCES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1898650"/>
            <a:ext cx="14716125" cy="614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0" cap="none" spc="-84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Bibliography.</a:t>
            </a: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2589014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-6" normalizeH="0" baseline="0" noProof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APA-style references for all external figures cited in this deck.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3641527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62000" y="3293864"/>
            <a:ext cx="831951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Anthropic. (2026).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Claude API pricing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https://www.anthropic.com/pricing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412888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62000" y="3781227"/>
            <a:ext cx="831951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Bessemer Venture Partners.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State of the cloud 2024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https://www.bvp.com/atlas/state-of-the-cloud-2024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2000" y="4830564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762000" y="4268589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Eurostat.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Structural business statistics: Retail trade enterprises by employment size class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https://ec.europa.eu/eurostat/web/structural-business-statistics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553223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762000" y="4970264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Gartner.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Magic Quadrant for Retail Assortment Management Applications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https://www.gartner.com/en/documents/retail-assortment-management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6233914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762000" y="5671939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Grand View Research.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Retail analytics market size, share &amp; trends report, 2024–2030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https://www.grandviewresearch.com/industry-analysis/retail-analytics-market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2000" y="6721277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762000" y="6373614"/>
            <a:ext cx="831951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[6]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Kaggle. (2020).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M5 Forecasting — Accuracy competition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https://www.kaggle.com/competitions/m5-forecasting-accuracy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62000" y="7422952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762000" y="6860977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[7]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Ke, G., Meng, Q., Finley, T., Wang, T., Chen, W., Ma, W., Ye, Q., &amp; Liu, T.-Y. (2017). LightGBM: A highly efficient gradient boosting decision tree.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Advances in Neural Information Processing Systems, 30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https://papers.nips.cc/paper/6907-lightgbm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48800" y="385583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9448800" y="3293864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[8]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KeyBanc Capital Markets.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2024 SaaS survey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https://www.key.com/businesses-institutions/industry-expertise/2024-saas-survey.html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448800" y="4557514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9448800" y="3995539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[9]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Makridakis, S., Spiliotis, E., &amp; Assimakopoulos, V. (2022). The M5 accuracy competition: Results, findings and conclusions.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International Journal of Forecasting, 38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(4), 1346–1364.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https://doi.org/10.1016/j.ijforecast.2021.11.013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448800" y="525918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9448800" y="4697214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[10]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McKinsey &amp; Company.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state of AI in retail and consumer goods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McKinsey Global Institute.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https://www.mckinsey.com/industries/retail/our-insights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448800" y="5746552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9448800" y="5398889"/>
            <a:ext cx="831951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[11]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OpenView Partners.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SaaS benchmarks report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https://openviewpartners.com/saas-benchmarks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448800" y="6233914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9448800" y="5886252"/>
            <a:ext cx="831951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[12]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SaaS Capital.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Annual SaaS retention benchmark survey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https://www.saas-capital.com/research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48800" y="6935589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9448800" y="6373614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[13]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Statista. (2024). </a:t>
            </a:r>
            <a:r>
              <a:rPr kumimoji="0" lang="en-US" sz="1125" b="0" i="1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Number of retail enterprises in Europe by employee size class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https://www.statista.com/statistics/retail-enterprises-europe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48800" y="7637264"/>
            <a:ext cx="8077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8" name="Text 36"/>
          <p:cNvSpPr/>
          <p:nvPr/>
        </p:nvSpPr>
        <p:spPr>
          <a:xfrm>
            <a:off x="9448800" y="7075289"/>
            <a:ext cx="8319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[14] </a:t>
            </a:r>
            <a:r>
              <a:rPr kumimoji="0" lang="en-US" sz="1125" b="0" i="0" u="none" strike="noStrike" kern="0" cap="none" spc="-6" normalizeH="0" baseline="0" noProof="0">
                <a:ln>
                  <a:noFill/>
                </a:ln>
                <a:solidFill>
                  <a:srgbClr val="0D1F3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Vendor product pages: Relex Solutions, Blue Yonder (JDA), ToolsGroup, Nextail, Daisy Intelligence. (2026). </a:t>
            </a:r>
            <a:r>
              <a:rPr kumimoji="0" lang="en-US" sz="975" b="0" i="0" u="none" strike="noStrike" kern="0" cap="none" spc="-6" normalizeH="0" baseline="0" noProof="0">
                <a:ln>
                  <a:noFill/>
                </a:ln>
                <a:solidFill>
                  <a:srgbClr val="1A73E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relexsolutions.com · blueyonder.com · toolsgroup.com · nextail.co · daisyintel.com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762000" y="9950451"/>
            <a:ext cx="449720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39" normalizeH="0" baseline="0" noProof="0">
                <a:ln>
                  <a:noFill/>
                </a:ln>
                <a:solidFill>
                  <a:srgbClr val="8A93A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All sources publicly available · last accessed April 2026 · APA 7th edition</a:t>
            </a:r>
            <a:endParaRPr kumimoji="0" lang="en-US" sz="9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7364571" y="9950451"/>
            <a:ext cx="23762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0" cap="none" spc="39" normalizeH="0" baseline="0" noProof="0">
                <a:ln>
                  <a:noFill/>
                </a:ln>
                <a:solidFill>
                  <a:srgbClr val="8A93A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kumimoji="0" lang="en-US" sz="9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DC67C254869D4D96A61AFB0AB5D658" ma:contentTypeVersion="3" ma:contentTypeDescription="Criar um novo documento." ma:contentTypeScope="" ma:versionID="6ea041acd32d585e82f3500cbc51b324">
  <xsd:schema xmlns:xsd="http://www.w3.org/2001/XMLSchema" xmlns:xs="http://www.w3.org/2001/XMLSchema" xmlns:p="http://schemas.microsoft.com/office/2006/metadata/properties" xmlns:ns2="d7445d05-2a99-4a26-a9fa-efeb96e6b49f" targetNamespace="http://schemas.microsoft.com/office/2006/metadata/properties" ma:root="true" ma:fieldsID="4c82188192277ac1def9994fc54421cb" ns2:_="">
    <xsd:import namespace="d7445d05-2a99-4a26-a9fa-efeb96e6b4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445d05-2a99-4a26-a9fa-efeb96e6b4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0D3A67-16BB-4314-99EC-BD7EF63581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760852-2CDB-4B34-973B-C3F6B7353778}">
  <ds:schemaRefs>
    <ds:schemaRef ds:uri="d7445d05-2a99-4a26-a9fa-efeb96e6b4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9C45BA8-8FCB-442D-8814-62E3A48B524F}">
  <ds:schemaRefs>
    <ds:schemaRef ds:uri="d7445d05-2a99-4a26-a9fa-efeb96e6b49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4644</Words>
  <Application>Microsoft Macintosh PowerPoint</Application>
  <PresentationFormat>Custom</PresentationFormat>
  <Paragraphs>636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Leticia Brendle</cp:lastModifiedBy>
  <cp:revision>5</cp:revision>
  <dcterms:created xsi:type="dcterms:W3CDTF">2026-05-01T13:58:08Z</dcterms:created>
  <dcterms:modified xsi:type="dcterms:W3CDTF">2026-05-11T13:27:35Z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0x0101003CDC67C254869D4D96A61AFB0AB5D658</vt:lpwstr>
  </property>
</Properties>
</file>